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b8c9469eaf74bd2" /><Relationship Type="http://schemas.openxmlformats.org/officeDocument/2006/relationships/extended-properties" Target="/docProps/app.xml" Id="Rb657b88e97d648ce" /><Relationship Type="http://schemas.openxmlformats.org/officeDocument/2006/relationships/officeDocument" Target="/ppt/presentation.xml" Id="R2073c32e39cf4b6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eda60dbedea4456"/>
  </p:sldMasterIdLst>
  <p:notesMasterIdLst>
    <p:notesMasterId xmlns:r="http://schemas.openxmlformats.org/officeDocument/2006/relationships" r:id="Rb3ef8d3e88e64ac7"/>
  </p:notesMasterIdLst>
  <p:sldIdLst>
    <p:sldId xmlns:r="http://schemas.openxmlformats.org/officeDocument/2006/relationships" id="256" r:id="R46e38405eb924d94"/>
    <p:sldId xmlns:r="http://schemas.openxmlformats.org/officeDocument/2006/relationships" id="257" r:id="Rbef346b80d7445e4"/>
    <p:sldId xmlns:r="http://schemas.openxmlformats.org/officeDocument/2006/relationships" id="258" r:id="R0ed74972892f4172"/>
    <p:sldId xmlns:r="http://schemas.openxmlformats.org/officeDocument/2006/relationships" id="259" r:id="Raf8fab4ed3b44759"/>
    <p:sldId xmlns:r="http://schemas.openxmlformats.org/officeDocument/2006/relationships" id="260" r:id="R6d30805a69e94250"/>
    <p:sldId xmlns:r="http://schemas.openxmlformats.org/officeDocument/2006/relationships" id="261" r:id="Re6dfddde82d041d1"/>
    <p:sldId xmlns:r="http://schemas.openxmlformats.org/officeDocument/2006/relationships" id="262" r:id="R1324fc9e5d424f59"/>
    <p:sldId xmlns:r="http://schemas.openxmlformats.org/officeDocument/2006/relationships" id="263" r:id="Reee5f4266ca64e57"/>
    <p:sldId xmlns:r="http://schemas.openxmlformats.org/officeDocument/2006/relationships" id="264" r:id="R60df7d79d5d1403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da60dbedea4456" /><Relationship Type="http://schemas.openxmlformats.org/officeDocument/2006/relationships/theme" Target="/ppt/theme/theme1.xml" Id="R6f087a754ca74bb7" /><Relationship Type="http://schemas.openxmlformats.org/officeDocument/2006/relationships/notesMaster" Target="/ppt/notesMasters/notesMaster1.xml" Id="Rb3ef8d3e88e64ac7" /><Relationship Type="http://schemas.openxmlformats.org/officeDocument/2006/relationships/presProps" Target="/ppt/presProps.xml" Id="R07d92800ec5c49b2" /><Relationship Type="http://schemas.openxmlformats.org/officeDocument/2006/relationships/viewProps" Target="/ppt/viewProps.xml" Id="R26ac57aa487e4f45" /><Relationship Type="http://schemas.openxmlformats.org/officeDocument/2006/relationships/tableStyles" Target="/ppt/tableStyles.xml" Id="Rb69e6114982e47ae" /><Relationship Type="http://schemas.openxmlformats.org/officeDocument/2006/relationships/slide" Target="/ppt/slides/slide1.xml" Id="R46e38405eb924d94" /><Relationship Type="http://schemas.openxmlformats.org/officeDocument/2006/relationships/slide" Target="/ppt/slides/slide2.xml" Id="Rbef346b80d7445e4" /><Relationship Type="http://schemas.openxmlformats.org/officeDocument/2006/relationships/slide" Target="/ppt/slides/slide3.xml" Id="R0ed74972892f4172" /><Relationship Type="http://schemas.openxmlformats.org/officeDocument/2006/relationships/slide" Target="/ppt/slides/slide4.xml" Id="Raf8fab4ed3b44759" /><Relationship Type="http://schemas.openxmlformats.org/officeDocument/2006/relationships/slide" Target="/ppt/slides/slide5.xml" Id="R6d30805a69e94250" /><Relationship Type="http://schemas.openxmlformats.org/officeDocument/2006/relationships/slide" Target="/ppt/slides/slide6.xml" Id="Re6dfddde82d041d1" /><Relationship Type="http://schemas.openxmlformats.org/officeDocument/2006/relationships/slide" Target="/ppt/slides/slide7.xml" Id="R1324fc9e5d424f59" /><Relationship Type="http://schemas.openxmlformats.org/officeDocument/2006/relationships/slide" Target="/ppt/slides/slide8.xml" Id="Reee5f4266ca64e57" /><Relationship Type="http://schemas.openxmlformats.org/officeDocument/2006/relationships/slide" Target="/ppt/slides/slide9.xml" Id="R60df7d79d5d1403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c2d2188a6b7d4ae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10d637cd8d547e3" /><Relationship Type="http://schemas.openxmlformats.org/officeDocument/2006/relationships/notesMaster" Target="/ppt/notesMasters/notesMaster1.xml" Id="Re4d4319c01c4467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aea573f931e40e1" /><Relationship Type="http://schemas.openxmlformats.org/officeDocument/2006/relationships/notesMaster" Target="/ppt/notesMasters/notesMaster1.xml" Id="R93cfe9d353b141b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0941f6b7e584c31" /><Relationship Type="http://schemas.openxmlformats.org/officeDocument/2006/relationships/notesMaster" Target="/ppt/notesMasters/notesMaster1.xml" Id="R5b2c530f5f5c4e9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085ad182b8a4655" /><Relationship Type="http://schemas.openxmlformats.org/officeDocument/2006/relationships/notesMaster" Target="/ppt/notesMasters/notesMaster1.xml" Id="R2b8e929e3210408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102c45e217a4b4e" /><Relationship Type="http://schemas.openxmlformats.org/officeDocument/2006/relationships/notesMaster" Target="/ppt/notesMasters/notesMaster1.xml" Id="R0a27c15cf5eb450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055717bc7974c4e" /><Relationship Type="http://schemas.openxmlformats.org/officeDocument/2006/relationships/notesMaster" Target="/ppt/notesMasters/notesMaster1.xml" Id="Rcfc7b680386e476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f36d2e62db540e6" /><Relationship Type="http://schemas.openxmlformats.org/officeDocument/2006/relationships/notesMaster" Target="/ppt/notesMasters/notesMaster1.xml" Id="R76cd2bd6b9804b2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0409b5f8eee47fe" /><Relationship Type="http://schemas.openxmlformats.org/officeDocument/2006/relationships/notesMaster" Target="/ppt/notesMasters/notesMaster1.xml" Id="R28db7cb2dbad48e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5415132154e4a8c" /><Relationship Type="http://schemas.openxmlformats.org/officeDocument/2006/relationships/notesMaster" Target="/ppt/notesMasters/notesMaster1.xml" Id="R5a9d40924ed8423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这部分作为个人分享，不替代正式SOW和验收边界。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先承认传统项目管理的真实痛点，为后面新方法铺垫。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强调合规录音和过程留痕，语气要温和。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把AI定位成第三视角，避免说成替代客户或替代项目组。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这页是很强的项目方法论，建议重点讲。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把个人经验变成团队可复用能力，是这页的核心。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这页要讲诚意和业务价值，但不要承诺验收。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这页是保护项目边界的关键。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收尾时回到正向愿景。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c6ef0eba8b461a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 1">
            <a:extLst xmlns:a="http://schemas.openxmlformats.org/drawingml/2006/main">
              <a:ext uri="{FF2B5EF4-FFF2-40B4-BE49-F238E27FC236}">
                <a16:creationId xmlns:a16="http://schemas.microsoft.com/office/drawing/2014/main" id="{C1E84BDD-84D0-4341-97A7-9DDC89145BDA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2" name="Subtitle 2">
            <a:extLst xmlns:a="http://schemas.openxmlformats.org/drawingml/2006/main">
              <a:ext uri="{FF2B5EF4-FFF2-40B4-BE49-F238E27FC236}">
                <a16:creationId xmlns:a16="http://schemas.microsoft.com/office/drawing/2014/main" id="{906B971F-F5EE-480F-946B-11383A828B5D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3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7871384-DDF9-4B88-84F3-1BA9EC061AE2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CBDEC95-4160-4F93-9713-BC8155226025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C0B6A10-8CF5-4F42-80D6-7725882007BB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fa26b31119994f5e" /><Relationship Type="http://schemas.openxmlformats.org/officeDocument/2006/relationships/slideLayout" Target="/ppt/slideLayouts/slideLayout2.xml" Id="Rd60812ea9d7a416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E8F1A75-FC1C-452C-899C-713EACABB71F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60812ea9d7a416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562dc833f074e0c" /><Relationship Type="http://schemas.openxmlformats.org/officeDocument/2006/relationships/notesSlide" Target="/ppt/notesSlides/notesSlide1.xml" Id="R307bc2f3921546d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db5bce7886343f2" /><Relationship Type="http://schemas.openxmlformats.org/officeDocument/2006/relationships/notesSlide" Target="/ppt/notesSlides/notesSlide2.xml" Id="Rd08da7344388494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f878881cc7c4938" /><Relationship Type="http://schemas.openxmlformats.org/officeDocument/2006/relationships/notesSlide" Target="/ppt/notesSlides/notesSlide3.xml" Id="Rb99d28f0d2274ff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004c2f971d448ed" /><Relationship Type="http://schemas.openxmlformats.org/officeDocument/2006/relationships/notesSlide" Target="/ppt/notesSlides/notesSlide4.xml" Id="Reaef8b59272b484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dce6b89078844ad" /><Relationship Type="http://schemas.openxmlformats.org/officeDocument/2006/relationships/notesSlide" Target="/ppt/notesSlides/notesSlide5.xml" Id="Rafdef704b7134f7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165c110e0044f4a" /><Relationship Type="http://schemas.openxmlformats.org/officeDocument/2006/relationships/notesSlide" Target="/ppt/notesSlides/notesSlide6.xml" Id="R537ff62d70d3413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d8af78c17544734" /><Relationship Type="http://schemas.openxmlformats.org/officeDocument/2006/relationships/notesSlide" Target="/ppt/notesSlides/notesSlide7.xml" Id="Red617c15e600499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61e21c641e548fd" /><Relationship Type="http://schemas.openxmlformats.org/officeDocument/2006/relationships/notesSlide" Target="/ppt/notesSlides/notesSlide8.xml" Id="R62b130b9e9424bb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46409709cd5467c" /><Relationship Type="http://schemas.openxmlformats.org/officeDocument/2006/relationships/notesSlide" Target="/ppt/notesSlides/notesSlide9.xml" Id="Rdd2874e7e305423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C0B6A10-8CF5-4F42-80D6-7725882007B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DFC408-83E2-407C-A839-1E56DA3DC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9716A0-9D44-4FAD-9966-FA34C1ABF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509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3E4105-9774-4FC6-9A53-CA4E88EAE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C1883C-2917-481C-BC02-0314E9B00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152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DDE24D-DB86-430C-9E2A-42CE65A9D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781050"/>
            <a:ext cx="30480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D3C6A0-C26E-430E-8433-F2BAB0F06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219700"/>
            <a:ext cx="2667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D3B8DC-6F74-4B74-BB5B-85F415775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762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AB0B36-18A6-48AE-8305-C27D252EF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047750"/>
            <a:ext cx="438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D4ED8"/>
                </a:solidFill>
              </a:defRPr>
            </a:pPr>
            <a:r>
              <a:rPr sz="1050" b="1">
                <a:solidFill>
                  <a:srgbClr val="1D4ED8"/>
                </a:solidFill>
              </a:rPr>
              <a:t>西域集团投标管理平台项目｜项目经理个人分享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FB6229-5649-4F9B-A1BB-55791F931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81150"/>
            <a:ext cx="7239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B1F3A"/>
                </a:solidFill>
              </a:defRPr>
            </a:pPr>
            <a:r>
              <a:rPr sz="3450" b="1">
                <a:solidFill>
                  <a:srgbClr val="0B1F3A"/>
                </a:solidFill>
              </a:rPr>
              <a:t>AI时代的项目协作方法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6A3983-91FA-4874-8788-033C34A35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48000"/>
            <a:ext cx="7239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34155"/>
                </a:solidFill>
              </a:defRPr>
            </a:pPr>
            <a:r>
              <a:rPr sz="1500" b="0">
                <a:solidFill>
                  <a:srgbClr val="334155"/>
                </a:solidFill>
              </a:rPr>
              <a:t>把会议变资产 · 把分歧变结构 · 把经验变技能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28A949-F06B-4578-BC6F-20E554D0A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95750"/>
            <a:ext cx="4953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7D2F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B3B000-4C22-4453-A18C-AA589ECAF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43400"/>
            <a:ext cx="447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A"/>
                </a:solidFill>
              </a:defRPr>
            </a:pPr>
            <a:r>
              <a:rPr sz="1650" b="1">
                <a:solidFill>
                  <a:srgbClr val="0B1F3A"/>
                </a:solidFill>
              </a:rPr>
              <a:t>给项目组的一点个人工作方法分享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68918A-CA01-4FFA-908E-48432AC0E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219700"/>
            <a:ext cx="12573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D4ED8">
              <a:alpha val="13333"/>
            </a:srgbClr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86DA9D-91F8-42BA-AA35-95719D7FC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305425"/>
            <a:ext cx="1257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D4ED8"/>
                </a:solidFill>
              </a:defRPr>
            </a:pPr>
            <a:r>
              <a:rPr sz="975" b="1">
                <a:solidFill>
                  <a:srgbClr val="1D4ED8"/>
                </a:solidFill>
              </a:rPr>
              <a:t>会议留痕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C6219E-7BBD-408C-92B5-66C38AD71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5219700"/>
            <a:ext cx="12573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38BDF8">
              <a:alpha val="13333"/>
            </a:srgbClr>
          </a:solidFill>
          <a:ln xmlns:a="http://schemas.openxmlformats.org/drawingml/2006/main" w="9525">
            <a:solidFill>
              <a:srgbClr val="38BDF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77FCD1-9C51-4BE3-BD8D-03312D004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5305425"/>
            <a:ext cx="1257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38BDF8"/>
                </a:solidFill>
              </a:defRPr>
            </a:pPr>
            <a:r>
              <a:rPr sz="975" b="1">
                <a:solidFill>
                  <a:srgbClr val="38BDF8"/>
                </a:solidFill>
              </a:rPr>
              <a:t>原型逼近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3A8A9E-CC18-4270-8044-7FA6F86B7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219700"/>
            <a:ext cx="12573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F766E">
              <a:alpha val="13333"/>
            </a:srgbClr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40A19C-2E0A-464C-860A-99E7A93AC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305425"/>
            <a:ext cx="1257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F766E"/>
                </a:solidFill>
              </a:defRPr>
            </a:pPr>
            <a:r>
              <a:rPr sz="975" b="1">
                <a:solidFill>
                  <a:srgbClr val="0F766E"/>
                </a:solidFill>
              </a:rPr>
              <a:t>Agent工作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8E4065-5AEE-4AFD-BC6E-A6715DF97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33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西域集团投标管理平台项目 · 项目经理个人分享</a:t>
            </a:r>
          </a:p>
        </p:txBody>
      </p:sp>
    </p:spTree>
    <p:extLst>
      <p:ext uri="{BB962C8B-B14F-4D97-AF65-F5344CB8AC3E}">
        <p14:creationId xmlns:p14="http://schemas.microsoft.com/office/powerpoint/2010/main" val="209203467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C0B6A10-8CF5-4F42-80D6-7725882007B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B2DC27-B1AA-4013-B2E8-F61BC9218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E9DA13-18E6-4AB8-9D85-8175CBC53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509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1F48FD-4BFC-4559-810E-131F6B2CC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0EDE0A-E480-4A57-BCD5-FD661FE5A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152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5FF4E0-41E0-4401-B2FE-1AB5097CF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781050"/>
            <a:ext cx="30480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8AB81B-8AC0-4609-84B9-359C3FD9C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219700"/>
            <a:ext cx="2667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DF6623-4EFF-4DC1-BAAB-B329B88D8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4ED8"/>
                </a:solidFill>
              </a:defRPr>
            </a:pPr>
            <a:r>
              <a:rPr sz="975" b="1">
                <a:solidFill>
                  <a:srgbClr val="1D4ED8"/>
                </a:solidFill>
              </a:rPr>
              <a:t>01 / 为什么要升级方法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09EB8B-8717-43BC-91B8-9318D6BCC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23850"/>
            <a:ext cx="914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D4ED8"/>
                </a:solidFill>
              </a:defRPr>
            </a:pPr>
            <a:r>
              <a:rPr sz="975" b="1">
                <a:solidFill>
                  <a:srgbClr val="1D4ED8"/>
                </a:solidFill>
              </a:rPr>
              <a:t>02 / 09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2DB854-79BA-432E-9AE5-6B167BCC6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00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B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6ECD6B-18C6-48FA-B4B3-3A514B057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7429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项目最难的，往往不是技术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5F6F18-C33D-45CA-BDD7-BDACB6D5D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43100"/>
            <a:ext cx="8572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真正消耗项目的，是需求共识、签字确认和变更拉扯。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40A6EE-551B-491C-87B6-F3C9501BF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71900"/>
            <a:ext cx="32385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BEAF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A43259-FC55-472C-B8F6-66B6079AB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71900"/>
            <a:ext cx="3238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8D5B1B-3A8C-40EA-B16C-030DCF18B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386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2D6AF9-6974-49D2-B021-0A596E718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43375"/>
            <a:ext cx="76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582C6D-0D89-4360-98B9-9AEBB46B2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38600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3A"/>
                </a:solidFill>
              </a:defRPr>
            </a:pPr>
            <a:r>
              <a:rPr sz="1275" b="1">
                <a:solidFill>
                  <a:srgbClr val="0B1F3A"/>
                </a:solidFill>
              </a:rPr>
              <a:t>确认难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9399A7-957A-4F0E-829B-5FBABA752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648200"/>
            <a:ext cx="27813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不同用户对同一句需求的理解可能不一样，后期再确认就容易回忆不一致。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FCC227-56ED-4A06-A654-90E88E025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771900"/>
            <a:ext cx="32385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BEAF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CCF6B33-3901-41D8-9676-1229830C3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771900"/>
            <a:ext cx="3238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92A0B2-53F3-4E19-9E23-C6BAAAB1A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0386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658BA21-8423-459C-A836-BCB691966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143375"/>
            <a:ext cx="76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B445D80-2670-4074-8F47-2429F19E2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4038600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3A"/>
                </a:solidFill>
              </a:defRPr>
            </a:pPr>
            <a:r>
              <a:rPr sz="1275" b="1">
                <a:solidFill>
                  <a:srgbClr val="0B1F3A"/>
                </a:solidFill>
              </a:rPr>
              <a:t>变更难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44A582D-9467-4E5D-902F-22A9F9231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648200"/>
            <a:ext cx="27813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需求一旦变化，就会牵涉范围、工期、责任和审批，容易反复拉扯。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45D1285-FC9A-47D4-B7E3-2A3AD4D60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771900"/>
            <a:ext cx="32385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BEAF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DC7419A-03DB-4D68-8CDA-EE4D2CCA3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771900"/>
            <a:ext cx="3238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9945902-6606-4E37-BD11-1535ADC57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0386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0ECBB5C-1F68-4704-9862-D136D2208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143375"/>
            <a:ext cx="76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E544213-9420-42A8-8ED1-491470256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038600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3A"/>
                </a:solidFill>
              </a:defRPr>
            </a:pPr>
            <a:r>
              <a:rPr sz="1275" b="1">
                <a:solidFill>
                  <a:srgbClr val="0B1F3A"/>
                </a:solidFill>
              </a:rPr>
              <a:t>共识难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60022EE-A517-4727-9B4B-C8B006582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648200"/>
            <a:ext cx="27813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项目需要让分歧尽早暴露，并在事实、原型和记录上形成共同判断。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24B082E-C6E4-4B32-BF6A-4E1F16D84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33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西域集团投标管理平台项目 · 项目经理个人分享</a:t>
            </a:r>
          </a:p>
        </p:txBody>
      </p:sp>
    </p:spTree>
    <p:extLst>
      <p:ext uri="{BB962C8B-B14F-4D97-AF65-F5344CB8AC3E}">
        <p14:creationId xmlns:p14="http://schemas.microsoft.com/office/powerpoint/2010/main" val="191591530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C0B6A10-8CF5-4F42-80D6-7725882007B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06326E-56D0-449E-B0AA-23394FBE1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F40F09-7EBE-48E9-98C3-BD238C737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509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E02BEE-2C08-46BE-8365-300261588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DB5B5E-8DFB-4143-B4C1-DC998EC2A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152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DC362D-BF15-406D-A06B-E8E54AC13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781050"/>
            <a:ext cx="30480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E87CA0-5E1F-4322-B2C3-6E7561C1F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219700"/>
            <a:ext cx="2667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6D35BC-87C6-4F0A-B411-9B1E21A0F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4ED8"/>
                </a:solidFill>
              </a:defRPr>
            </a:pPr>
            <a:r>
              <a:rPr sz="975" b="1">
                <a:solidFill>
                  <a:srgbClr val="1D4ED8"/>
                </a:solidFill>
              </a:rPr>
              <a:t>02 / 会议留痕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041749-5B55-43A1-B504-692AAFC28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23850"/>
            <a:ext cx="914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D4ED8"/>
                </a:solidFill>
              </a:defRPr>
            </a:pPr>
            <a:r>
              <a:rPr sz="975" b="1">
                <a:solidFill>
                  <a:srgbClr val="1D4ED8"/>
                </a:solidFill>
              </a:rPr>
              <a:t>03 / 09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E5C4E5-02CA-4E0A-90BF-E17264D99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00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B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1988FE-D919-4C6B-BCDC-23704ED74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7429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凡会议，必沉淀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3DF1D2-2FD5-4E8C-9B5F-C407FA1E2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43100"/>
            <a:ext cx="8572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每次正式沟通都尽量形成可追溯的会议资产。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3849CC-9FCB-40E9-B126-E1D4A6EA3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38500"/>
            <a:ext cx="186690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7D2F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6F8243-9B78-4165-9207-B68A070BD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86150"/>
            <a:ext cx="495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D4ED8"/>
                </a:solidFill>
              </a:defRPr>
            </a:pPr>
            <a:r>
              <a:rPr sz="1500" b="1">
                <a:solidFill>
                  <a:srgbClr val="1D4ED8"/>
                </a:solidFill>
              </a:rPr>
              <a:t>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F8B3AB-8A26-40BB-8685-3CB28167B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05250"/>
            <a:ext cx="1447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录音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099E0A-C473-4D40-BF0B-79A4081E2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05300"/>
            <a:ext cx="14478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</a:defRPr>
            </a:pPr>
            <a:r>
              <a:rPr sz="1050" b="0">
                <a:solidFill>
                  <a:srgbClr val="334155"/>
                </a:solidFill>
              </a:rPr>
              <a:t>正式会议前</a:t>
            </a:r>
          </a:p>
          <a:p xmlns:a="http://schemas.openxmlformats.org/drawingml/2006/main">
            <a:pPr algn="l">
              <a:defRPr sz="1050" b="0">
                <a:solidFill>
                  <a:srgbClr val="334155"/>
                </a:solidFill>
              </a:defRPr>
            </a:pPr>
            <a:r>
              <a:rPr sz="1050" b="0">
                <a:solidFill>
                  <a:srgbClr val="334155"/>
                </a:solidFill>
              </a:rPr>
              <a:t>征得参会方同意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1B4703-6CEB-4EBC-9DBF-753C6DA42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810000"/>
            <a:ext cx="40005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FDB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85AF5A-3EFB-448A-83B1-2EEA961C9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238500"/>
            <a:ext cx="186690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7D2F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B54A73-35DF-4A94-AFD1-D4CD229B4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486150"/>
            <a:ext cx="495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D4ED8"/>
                </a:solidFill>
              </a:defRPr>
            </a:pPr>
            <a:r>
              <a:rPr sz="1500" b="1">
                <a:solidFill>
                  <a:srgbClr val="1D4ED8"/>
                </a:solidFill>
              </a:rPr>
              <a:t>02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B9C8DC-F020-48A8-90D7-C8E1B0D77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905250"/>
            <a:ext cx="1447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转写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FD02BF-97DC-4335-AC39-890556EC9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305300"/>
            <a:ext cx="14478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</a:defRPr>
            </a:pPr>
            <a:r>
              <a:rPr sz="1050" b="0">
                <a:solidFill>
                  <a:srgbClr val="334155"/>
                </a:solidFill>
              </a:rPr>
              <a:t>自动整理</a:t>
            </a:r>
          </a:p>
          <a:p xmlns:a="http://schemas.openxmlformats.org/drawingml/2006/main">
            <a:pPr algn="l">
              <a:defRPr sz="1050" b="0">
                <a:solidFill>
                  <a:srgbClr val="334155"/>
                </a:solidFill>
              </a:defRPr>
            </a:pPr>
            <a:r>
              <a:rPr sz="1050" b="0">
                <a:solidFill>
                  <a:srgbClr val="334155"/>
                </a:solidFill>
              </a:rPr>
              <a:t>完整沟通内容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2CA3DAB-6FE0-454C-968A-7C4B017AC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810000"/>
            <a:ext cx="40005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FDB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EDEADC8-8C51-43CF-AB32-097A9F02E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238500"/>
            <a:ext cx="186690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7D2F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A4E94EC-98F6-4F8A-9059-8DB03775C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486150"/>
            <a:ext cx="495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D4ED8"/>
                </a:solidFill>
              </a:defRPr>
            </a:pPr>
            <a:r>
              <a:rPr sz="1500" b="1">
                <a:solidFill>
                  <a:srgbClr val="1D4ED8"/>
                </a:solidFill>
              </a:rPr>
              <a:t>03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D9110AC-4C4C-491F-B5B8-17074CF00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905250"/>
            <a:ext cx="1447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纪要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8B157FE-9E9C-47D7-95EB-0944DADBD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305300"/>
            <a:ext cx="14478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</a:defRPr>
            </a:pPr>
            <a:r>
              <a:rPr sz="1050" b="0">
                <a:solidFill>
                  <a:srgbClr val="334155"/>
                </a:solidFill>
              </a:rPr>
              <a:t>提炼结论</a:t>
            </a:r>
          </a:p>
          <a:p xmlns:a="http://schemas.openxmlformats.org/drawingml/2006/main">
            <a:pPr algn="l">
              <a:defRPr sz="1050" b="0">
                <a:solidFill>
                  <a:srgbClr val="334155"/>
                </a:solidFill>
              </a:defRPr>
            </a:pPr>
            <a:r>
              <a:rPr sz="1050" b="0">
                <a:solidFill>
                  <a:srgbClr val="334155"/>
                </a:solidFill>
              </a:rPr>
              <a:t>分歧与待办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DDEC8DE-CA56-4065-BAA5-0A830334A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810000"/>
            <a:ext cx="40005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FDB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3249586-5196-44B6-8C10-92208CC19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238500"/>
            <a:ext cx="186690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7D2FE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758D08C-29BE-444B-A117-AED39AED7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486150"/>
            <a:ext cx="495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D4ED8"/>
                </a:solidFill>
              </a:defRPr>
            </a:pPr>
            <a:r>
              <a:rPr sz="1500" b="1">
                <a:solidFill>
                  <a:srgbClr val="1D4ED8"/>
                </a:solidFill>
              </a:rPr>
              <a:t>04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FACD131-C880-468A-ABF8-A389A91D8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905250"/>
            <a:ext cx="1447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跟踪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A7A6413-7C52-4D86-AA96-8D82EEE07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305300"/>
            <a:ext cx="14478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</a:defRPr>
            </a:pPr>
            <a:r>
              <a:rPr sz="1050" b="0">
                <a:solidFill>
                  <a:srgbClr val="334155"/>
                </a:solidFill>
              </a:rPr>
              <a:t>责任人</a:t>
            </a:r>
          </a:p>
          <a:p xmlns:a="http://schemas.openxmlformats.org/drawingml/2006/main">
            <a:pPr algn="l">
              <a:defRPr sz="1050" b="0">
                <a:solidFill>
                  <a:srgbClr val="334155"/>
                </a:solidFill>
              </a:defRPr>
            </a:pPr>
            <a:r>
              <a:rPr sz="1050" b="0">
                <a:solidFill>
                  <a:srgbClr val="334155"/>
                </a:solidFill>
              </a:rPr>
              <a:t>截止时间</a:t>
            </a:r>
          </a:p>
          <a:p xmlns:a="http://schemas.openxmlformats.org/drawingml/2006/main">
            <a:pPr algn="l">
              <a:defRPr sz="1050" b="0">
                <a:solidFill>
                  <a:srgbClr val="334155"/>
                </a:solidFill>
              </a:defRPr>
            </a:pPr>
            <a:r>
              <a:rPr sz="1050" b="0">
                <a:solidFill>
                  <a:srgbClr val="334155"/>
                </a:solidFill>
              </a:rPr>
              <a:t>关闭状态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2213A6D-68CC-464F-A3E1-D6AFB61F6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457450"/>
            <a:ext cx="23622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25BF609-86F8-470A-AB84-E4B98C2A4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647950"/>
            <a:ext cx="1943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目的不是追责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1C89343-69B0-4377-A6D4-462FE0536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5067300"/>
            <a:ext cx="2476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D4ED8"/>
                </a:solidFill>
              </a:defRPr>
            </a:pPr>
            <a:r>
              <a:rPr sz="1275" b="1">
                <a:solidFill>
                  <a:srgbClr val="1D4ED8"/>
                </a:solidFill>
              </a:rPr>
              <a:t>而是减少误解，让项目不再依赖个人记忆。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DE9E526-281E-4806-A3CC-8B0746651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33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西域集团投标管理平台项目 · 项目经理个人分享</a:t>
            </a:r>
          </a:p>
        </p:txBody>
      </p:sp>
    </p:spTree>
    <p:extLst>
      <p:ext uri="{BB962C8B-B14F-4D97-AF65-F5344CB8AC3E}">
        <p14:creationId xmlns:p14="http://schemas.microsoft.com/office/powerpoint/2010/main" val="6685903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C0B6A10-8CF5-4F42-80D6-7725882007B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0BC1D5-AE2A-4177-A130-EAA29B381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018109-5DB7-4E3A-97DA-A55CCD21C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509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282399-3E38-42DE-A1B8-A72C3B30D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AFCC3A-4316-4949-9198-8DD6D436C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152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867D8B-AF42-445D-ACA3-41B3CF194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781050"/>
            <a:ext cx="30480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358103-3575-437B-AF5F-74058C7F1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219700"/>
            <a:ext cx="2667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5FF354-085E-4B2E-8515-816C2CC8F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4ED8"/>
                </a:solidFill>
              </a:defRPr>
            </a:pPr>
            <a:r>
              <a:rPr sz="975" b="1">
                <a:solidFill>
                  <a:srgbClr val="1D4ED8"/>
                </a:solidFill>
              </a:rPr>
              <a:t>03 / 分歧处理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F3F19F-F3C4-4DE7-9C0B-7FD6E1C5B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23850"/>
            <a:ext cx="914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D4ED8"/>
                </a:solidFill>
              </a:defRPr>
            </a:pPr>
            <a:r>
              <a:rPr sz="975" b="1">
                <a:solidFill>
                  <a:srgbClr val="1D4ED8"/>
                </a:solidFill>
              </a:rPr>
              <a:t>04 / 09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D204C1-6834-4DE2-8589-B17745607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00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B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F8F9BC-2B0C-4629-9830-E051BAA26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7429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凡分歧，先结构化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AE7425-719B-415B-807A-DA13CED14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43100"/>
            <a:ext cx="8572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AI不是裁判，但可以帮助我们把问题拆清楚。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66EF5E-9846-4905-ABFA-BD11A7F75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28950"/>
            <a:ext cx="4724400" cy="2152650"/>
          </a:xfrm>
          <a:prstGeom xmlns:a="http://schemas.openxmlformats.org/drawingml/2006/main" prst="roundRect">
            <a:avLst>
              <a:gd name="adj" fmla="val 3540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2A6D94-3856-4997-87C7-892894173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57550"/>
            <a:ext cx="409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64748B"/>
                </a:solidFill>
              </a:defRPr>
            </a:pPr>
            <a:r>
              <a:rPr sz="1575" b="1">
                <a:solidFill>
                  <a:srgbClr val="64748B"/>
                </a:solidFill>
              </a:rPr>
              <a:t>传统争论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1A30F9-9F16-4DEB-8A3B-FC5A472AB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7719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80B09E-AF8E-4D63-A355-80C364885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695700"/>
            <a:ext cx="3619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</a:defRPr>
            </a:pPr>
            <a:r>
              <a:rPr sz="1350" b="0">
                <a:solidFill>
                  <a:srgbClr val="0B1F3A"/>
                </a:solidFill>
              </a:rPr>
              <a:t>谁更熟业务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93B00F-71A7-4D32-86D2-946794C0F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1910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3D89B1-0724-4654-882D-DD4335F34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114800"/>
            <a:ext cx="3619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</a:defRPr>
            </a:pPr>
            <a:r>
              <a:rPr sz="1350" b="0">
                <a:solidFill>
                  <a:srgbClr val="0B1F3A"/>
                </a:solidFill>
              </a:rPr>
              <a:t>谁表达更强势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FED1DE-4CEE-4343-AD9B-EE312AC66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101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FD68A5-FA52-410E-B948-2D4875571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533900"/>
            <a:ext cx="3619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</a:defRPr>
            </a:pPr>
            <a:r>
              <a:rPr sz="1350" b="0">
                <a:solidFill>
                  <a:srgbClr val="0B1F3A"/>
                </a:solidFill>
              </a:rPr>
              <a:t>会议里临时拍板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728F22-56C0-41E3-82E1-1F2613E1E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028950"/>
            <a:ext cx="4724400" cy="2152650"/>
          </a:xfrm>
          <a:prstGeom xmlns:a="http://schemas.openxmlformats.org/drawingml/2006/main" prst="roundRect">
            <a:avLst>
              <a:gd name="adj" fmla="val 3540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E125316-2E3D-4855-8710-73039AF49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257550"/>
            <a:ext cx="409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D4ED8"/>
                </a:solidFill>
              </a:defRPr>
            </a:pPr>
            <a:r>
              <a:rPr sz="1575" b="1">
                <a:solidFill>
                  <a:srgbClr val="1D4ED8"/>
                </a:solidFill>
              </a:rPr>
              <a:t>AI辅助后的争论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EFCCB31-BEA6-46BC-A64E-7488B89B4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7719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6C36016-5DF6-47F7-ABB0-B3D5B3F97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695700"/>
            <a:ext cx="3619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</a:defRPr>
            </a:pPr>
            <a:r>
              <a:rPr sz="1350" b="0">
                <a:solidFill>
                  <a:srgbClr val="0B1F3A"/>
                </a:solidFill>
              </a:rPr>
              <a:t>背景与约束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CA2A18D-46F1-48EA-B27A-F2B211B38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1910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E6FC0D3-6F7D-4654-8BE7-C59B86FFC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114800"/>
            <a:ext cx="3619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</a:defRPr>
            </a:pPr>
            <a:r>
              <a:rPr sz="1350" b="0">
                <a:solidFill>
                  <a:srgbClr val="0B1F3A"/>
                </a:solidFill>
              </a:rPr>
              <a:t>方案A/B/C利弊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A60D81A-BE50-4E46-A306-5BCE699AB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6101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D9C72F6-E2D3-439F-91CA-F107E9BFE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533900"/>
            <a:ext cx="3619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</a:defRPr>
            </a:pPr>
            <a:r>
              <a:rPr sz="1350" b="0">
                <a:solidFill>
                  <a:srgbClr val="0B1F3A"/>
                </a:solidFill>
              </a:rPr>
              <a:t>风险、成本、影响面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1DF3C91-A2F0-49FE-B9CB-AA0054B20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562600"/>
            <a:ext cx="90678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2FE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F9BE591-92F7-40BD-BFCB-1FD122DCF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734050"/>
            <a:ext cx="857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D4ED8"/>
                </a:solidFill>
              </a:defRPr>
            </a:pPr>
            <a:r>
              <a:rPr sz="1350" b="1">
                <a:solidFill>
                  <a:srgbClr val="1D4ED8"/>
                </a:solidFill>
              </a:rPr>
              <a:t>最后还是人决策；AI负责补充视角、降低情绪、压缩分歧。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BE6CEDF-FE84-401C-9A35-0F1FF57D0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33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西域集团投标管理平台项目 · 项目经理个人分享</a:t>
            </a:r>
          </a:p>
        </p:txBody>
      </p:sp>
    </p:spTree>
    <p:extLst>
      <p:ext uri="{BB962C8B-B14F-4D97-AF65-F5344CB8AC3E}">
        <p14:creationId xmlns:p14="http://schemas.microsoft.com/office/powerpoint/2010/main" val="162505603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C0B6A10-8CF5-4F42-80D6-7725882007B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08552A-ECB1-4AB3-B2CD-88E3DC086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91E680-1E79-440D-B289-CD3D91DD2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509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D60E7D-0C23-4395-9400-64530C958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F5F3F7-039C-40AB-807E-40341080C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152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D0FB9A-F08E-411F-A5B6-E7629235D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781050"/>
            <a:ext cx="30480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CF4A35-34AC-41E3-AC5C-8640EF789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219700"/>
            <a:ext cx="2667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ECAB9F-6022-4F02-B05A-5069C0919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4ED8"/>
                </a:solidFill>
              </a:defRPr>
            </a:pPr>
            <a:r>
              <a:rPr sz="975" b="1">
                <a:solidFill>
                  <a:srgbClr val="1D4ED8"/>
                </a:solidFill>
              </a:rPr>
              <a:t>04 / 需求调研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A9352B-6D61-4D14-9A47-9429F944F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23850"/>
            <a:ext cx="914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D4ED8"/>
                </a:solidFill>
              </a:defRPr>
            </a:pPr>
            <a:r>
              <a:rPr sz="975" b="1">
                <a:solidFill>
                  <a:srgbClr val="1D4ED8"/>
                </a:solidFill>
              </a:rPr>
              <a:t>05 / 09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642B86-6BCD-48BF-A3C8-D16ED0326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00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B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7DD9F2-D83C-44FB-8B43-935B86701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838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坚持原型逼近法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E95622-0DB0-4A41-A397-60EFEEEB8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43100"/>
            <a:ext cx="8572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不要在会议室里猜需求，要在页面、流程和样例数据上校准共识。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4805AB-7342-4743-9D1B-BFD6FB843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47950"/>
            <a:ext cx="100012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B96554-92CB-481D-A359-8C171D282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876550"/>
            <a:ext cx="933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1F3A"/>
                </a:solidFill>
              </a:defRPr>
            </a:pPr>
            <a:r>
              <a:rPr sz="1425" b="1">
                <a:solidFill>
                  <a:srgbClr val="0B1F3A"/>
                </a:solidFill>
              </a:rPr>
              <a:t>业务人员很难凭空说清想要什么，但很容易指出一个原型哪里不对。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7E569B-8FBE-4329-B42F-A8E81681B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57650"/>
            <a:ext cx="22479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7D2F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8C8D21-782C-4C8C-8021-39FAAA7C3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0EE165-FC63-4336-8744-ABC31D749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43400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BF5082-894E-455A-8DF4-D712CDF4E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286250"/>
            <a:ext cx="1352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现有系统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E6CE89-34AF-4C22-BDA6-6873A0A27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762500"/>
            <a:ext cx="1790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</a:defRPr>
            </a:pPr>
            <a:r>
              <a:rPr sz="1050" b="0">
                <a:solidFill>
                  <a:srgbClr val="334155"/>
                </a:solidFill>
              </a:rPr>
              <a:t>让用户先看到真实页面和当前流程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C6869F-F89B-4E6B-8BCE-04D1AF46C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495800"/>
            <a:ext cx="38100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FDB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E8B123-C008-47A3-A99C-E01DF940F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057650"/>
            <a:ext cx="22479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7D2F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5BB9B10-72F0-4B90-AEF2-85E6EE16A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2672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D7D6470-B7FD-48BF-B187-7E479199D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343400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B4CFE92-6869-4052-971E-1302AA101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286250"/>
            <a:ext cx="1352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指出差异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987DF7C-517D-493B-99F8-8640DFCEA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762500"/>
            <a:ext cx="1790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</a:defRPr>
            </a:pPr>
            <a:r>
              <a:rPr sz="1050" b="0">
                <a:solidFill>
                  <a:srgbClr val="334155"/>
                </a:solidFill>
              </a:rPr>
              <a:t>让用户说哪里不顺、哪里缺字段、哪里不符合习惯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410B54E-C72F-4122-AE2C-72FC0A5F1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495800"/>
            <a:ext cx="38100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FDB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C1CE599-27EE-40A9-896B-CCB1CA53F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057650"/>
            <a:ext cx="22479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7D2FE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7B1E7B1-1BAD-492B-BB10-07E2A180D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2672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F1902C7-95BF-43BA-8C76-901EEBFC5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343400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BB7DD66-1C3A-445A-AB3B-0E26499B4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286250"/>
            <a:ext cx="1352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快速调整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B994244-F380-4411-B072-D14CDBF9A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762500"/>
            <a:ext cx="1790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</a:defRPr>
            </a:pPr>
            <a:r>
              <a:rPr sz="1050" b="0">
                <a:solidFill>
                  <a:srgbClr val="334155"/>
                </a:solidFill>
              </a:rPr>
              <a:t>用原型或配置快速逼近真实业务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49A5A3A-0D44-4A55-968E-B778FA943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495800"/>
            <a:ext cx="38100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FDB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750792D-170C-434F-A9F5-A8BEE29D9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057650"/>
            <a:ext cx="22479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7D2FE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7AC88F9-85FB-4AB9-A7BF-C8B266857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2672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8ABD137-3D5A-4580-A051-3DB1DAF57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343400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0B9F75D-436E-43A7-AC40-FFDF2A2BC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286250"/>
            <a:ext cx="1352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确认基线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8D932AB-B7F9-469C-8713-5C2DBA47A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762500"/>
            <a:ext cx="1790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</a:defRPr>
            </a:pPr>
            <a:r>
              <a:rPr sz="1050" b="0">
                <a:solidFill>
                  <a:srgbClr val="334155"/>
                </a:solidFill>
              </a:rPr>
              <a:t>把确认后的流程、字段、权限和报表沉淀下来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A368F62-904B-45BE-B0F0-A930C13C5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33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西域集团投标管理平台项目 · 项目经理个人分享</a:t>
            </a:r>
          </a:p>
        </p:txBody>
      </p:sp>
    </p:spTree>
    <p:extLst>
      <p:ext uri="{BB962C8B-B14F-4D97-AF65-F5344CB8AC3E}">
        <p14:creationId xmlns:p14="http://schemas.microsoft.com/office/powerpoint/2010/main" val="172688692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C0B6A10-8CF5-4F42-80D6-7725882007B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F544DE-405F-4641-BE95-942ECF27D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B3FAA1-BF57-4C8C-B12D-684BD0AFD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509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9BB03F-904F-4AA9-8FC3-C2B969265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8DA417-0002-4BE0-88B2-FF475F7FE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152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B887C0-8EDF-4044-8A82-8F65B2E34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781050"/>
            <a:ext cx="30480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B5065A-9CE3-42EB-9610-7C7773A55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219700"/>
            <a:ext cx="2667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D0CA39-9511-4BF4-BA7B-34439EB7C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4ED8"/>
                </a:solidFill>
              </a:defRPr>
            </a:pPr>
            <a:r>
              <a:rPr sz="975" b="1">
                <a:solidFill>
                  <a:srgbClr val="1D4ED8"/>
                </a:solidFill>
              </a:rPr>
              <a:t>05 / Agent工作法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A47F71-A4D9-4BB3-B768-5F80A12F4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23850"/>
            <a:ext cx="914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D4ED8"/>
                </a:solidFill>
              </a:defRPr>
            </a:pPr>
            <a:r>
              <a:rPr sz="975" b="1">
                <a:solidFill>
                  <a:srgbClr val="1D4ED8"/>
                </a:solidFill>
              </a:rPr>
              <a:t>06 / 09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940D92-33E0-41B9-BBFF-B573EB6BC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00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B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AF2E9B-7461-476D-8B76-95AA0993A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7429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用Agent工作，用技能复制自己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02F8F0-D03D-4484-8005-F324C5D9B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43100"/>
            <a:ext cx="8572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AI时代最重要的能力，是把经验沉淀成可重复执行的方法。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FC4697-D3AD-447B-8FB4-93BADFE42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71900"/>
            <a:ext cx="32385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BEAF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9F4AEE-AE2D-4309-BC77-485307632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71900"/>
            <a:ext cx="3238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DC7A09-1A7F-4ABC-AB0E-C515A4106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386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38C14F-EB94-4952-8172-A13804366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43375"/>
            <a:ext cx="76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89BEF1-1E87-4A29-AA00-80388FE07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38600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3A"/>
                </a:solidFill>
              </a:defRPr>
            </a:pPr>
            <a:r>
              <a:rPr sz="1275" b="1">
                <a:solidFill>
                  <a:srgbClr val="0B1F3A"/>
                </a:solidFill>
              </a:rPr>
              <a:t>会议纪要Agent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8F2CB8-783F-4204-A847-B4FBA8C2D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648200"/>
            <a:ext cx="27813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从录音转写中提炼结论、待办、风险、分歧和责任人。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C11F9E-5780-46FD-A731-EC6325D80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771900"/>
            <a:ext cx="32385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BEAF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F0C8CE-B3F7-46A2-88D8-AA934C204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771900"/>
            <a:ext cx="3238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AF5401-B412-4928-9559-90785E1C1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0386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C4A3D8-1CBD-4FD0-9702-8F88A9BEE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143375"/>
            <a:ext cx="76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1AA7F76-2282-4AD2-A889-626B5BFE4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4038600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3A"/>
                </a:solidFill>
              </a:defRPr>
            </a:pPr>
            <a:r>
              <a:rPr sz="1275" b="1">
                <a:solidFill>
                  <a:srgbClr val="0B1F3A"/>
                </a:solidFill>
              </a:rPr>
              <a:t>需求分析Agent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73CFE8-0DBB-4DA5-8FB9-D2ADCEE12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648200"/>
            <a:ext cx="27813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对照SOW、原型和会议记录，识别新增需求与范围风险。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D2833D7-2017-456A-A7B9-DC4F19E8C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771900"/>
            <a:ext cx="32385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BEAF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71CDCBB-5416-4F23-9C0F-E0055220A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771900"/>
            <a:ext cx="3238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7903A39-7223-4742-97A3-212790891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0386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2E5FFCF-FCD5-47BE-AA0C-605B4C371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143375"/>
            <a:ext cx="76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8408FDC-030F-4825-8FD8-760DFFC0A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038600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3A"/>
                </a:solidFill>
              </a:defRPr>
            </a:pPr>
            <a:r>
              <a:rPr sz="1275" b="1">
                <a:solidFill>
                  <a:srgbClr val="0B1F3A"/>
                </a:solidFill>
              </a:rPr>
              <a:t>周报风险Agent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F027862-EA5E-47CD-91FE-22C748BAE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648200"/>
            <a:ext cx="27813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自动整理进度、阻塞、风险、下周计划和需要客户决策事项。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FABDE0E-A2A7-4737-B918-A4A5E86DC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33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西域集团投标管理平台项目 · 项目经理个人分享</a:t>
            </a:r>
          </a:p>
        </p:txBody>
      </p:sp>
    </p:spTree>
    <p:extLst>
      <p:ext uri="{BB962C8B-B14F-4D97-AF65-F5344CB8AC3E}">
        <p14:creationId xmlns:p14="http://schemas.microsoft.com/office/powerpoint/2010/main" val="146638684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C0B6A10-8CF5-4F42-80D6-7725882007B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B4D419-6437-4122-9F8A-DABD46630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4908EF-EEA4-4F2A-86D8-687318F8B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509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FEB44E-5CA3-422B-9936-D67EDC0C5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D2E071-4ED9-418D-A846-87E896B0D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152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A7BB1A-3819-454A-9AA4-8BE68B4C1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781050"/>
            <a:ext cx="30480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4684AC-E36D-4C5D-9CCC-804B910CA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219700"/>
            <a:ext cx="2667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B2CE97-6306-4A33-95F0-C92F71DE8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4ED8"/>
                </a:solidFill>
              </a:defRPr>
            </a:pPr>
            <a:r>
              <a:rPr sz="975" b="1">
                <a:solidFill>
                  <a:srgbClr val="1D4ED8"/>
                </a:solidFill>
              </a:rPr>
              <a:t>06 / 赠送试点能力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1EF4C3-83D8-4076-81CF-DB3D5D128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23850"/>
            <a:ext cx="914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D4ED8"/>
                </a:solidFill>
              </a:defRPr>
            </a:pPr>
            <a:r>
              <a:rPr sz="975" b="1">
                <a:solidFill>
                  <a:srgbClr val="1D4ED8"/>
                </a:solidFill>
              </a:rPr>
              <a:t>07 / 09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C1114D-8427-4366-B415-4BFBD7A1A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00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B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173498-16AC-49EA-9CA0-A44FF2E4C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8572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商机中心：从看标讯到经营客户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408E56-77DE-4214-8581-C554C08E6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43100"/>
            <a:ext cx="8572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这是基于关键用户诉求额外做出的增值试点，不是合同强制交付项。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822BDA-EB8C-46C9-91BC-FDE100102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43200"/>
            <a:ext cx="104013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1430">
            <a:solidFill>
              <a:srgbClr val="1D4ED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73F4ED-F1D0-4891-8DCC-AE8FF573F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952750"/>
            <a:ext cx="971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它的价值是帮助团队提前经营客户，而不是等公告出来再反应。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4C54A2-51ED-4EBA-AFF9-AB4BFEE0B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00500"/>
            <a:ext cx="3238500" cy="15811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BEAF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CECCA5-953C-4502-981E-3575DD2AB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00500"/>
            <a:ext cx="3238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136F53-72ED-4976-8939-CF8F8CDF4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2672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A2792E-64C7-4B99-B771-AEB460EEE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371975"/>
            <a:ext cx="76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B6092D-2960-4BF7-A15E-9B620AC79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267200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3A"/>
                </a:solidFill>
              </a:defRPr>
            </a:pPr>
            <a:r>
              <a:rPr sz="1275" b="1">
                <a:solidFill>
                  <a:srgbClr val="0B1F3A"/>
                </a:solidFill>
              </a:rPr>
              <a:t>客户池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C99141-7710-4E5F-B010-7475557B7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76800"/>
            <a:ext cx="2781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围绕客户沉淀历史采购、行业、区域、品类和预算规律。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1392EC-9C24-480D-BBE8-8B1D45100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000500"/>
            <a:ext cx="3238500" cy="15811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BEAF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5000C1-BACD-4BBB-99E7-E4C1A1976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000500"/>
            <a:ext cx="3238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B87581B-1A98-45BD-889C-8C86A3C2E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2672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BC3347A-6AC6-4BCB-9AB9-991FD93CD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371975"/>
            <a:ext cx="76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32DDBE8-B51B-4BBB-9A8C-D518E5201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267200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3A"/>
                </a:solidFill>
              </a:defRPr>
            </a:pPr>
            <a:r>
              <a:rPr sz="1275" b="1">
                <a:solidFill>
                  <a:srgbClr val="0B1F3A"/>
                </a:solidFill>
              </a:rPr>
              <a:t>预测商机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42AEDAC-AD15-48ED-A291-42D1DC181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876800"/>
            <a:ext cx="2781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基于历史采购规律，生成可解释的潜在机会判断。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D8552F8-53FC-4B24-9C00-C204D4939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000500"/>
            <a:ext cx="3238500" cy="15811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BEAFE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7BBEB5D-85E5-4945-B6BA-DE2C06164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000500"/>
            <a:ext cx="3238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4FA0084-2E50-4622-A361-FF80CD55F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2672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0C66D87-7225-4AD4-9B72-E682968F2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371975"/>
            <a:ext cx="76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ECE4B46-5945-480C-AB91-5D10BD3FB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267200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3A"/>
                </a:solidFill>
              </a:defRPr>
            </a:pPr>
            <a:r>
              <a:rPr sz="1275" b="1">
                <a:solidFill>
                  <a:srgbClr val="0B1F3A"/>
                </a:solidFill>
              </a:rPr>
              <a:t>转正式项目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788D651-A702-4205-A012-0C911DF1B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876800"/>
            <a:ext cx="2781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判断成熟后，一键进入现有项目流程继续推进。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5176B55-0646-4C88-8BBE-BD4BD4F77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33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西域集团投标管理平台项目 · 项目经理个人分享</a:t>
            </a:r>
          </a:p>
        </p:txBody>
      </p:sp>
    </p:spTree>
    <p:extLst>
      <p:ext uri="{BB962C8B-B14F-4D97-AF65-F5344CB8AC3E}">
        <p14:creationId xmlns:p14="http://schemas.microsoft.com/office/powerpoint/2010/main" val="7258762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C0B6A10-8CF5-4F42-80D6-7725882007B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782E37-B210-4284-9DDE-624EECBF3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76A436-27C3-4C48-940F-05EA8C93D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509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E9E63B-5524-46B3-84D9-4DCA64017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53A429-4DF5-4FC5-B000-BEF7766A7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152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EAEC19-46E7-434D-B0C9-A1CCF012D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781050"/>
            <a:ext cx="30480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A31264-E353-4DEC-BAF5-8E35741C5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219700"/>
            <a:ext cx="2667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7A306D-59BE-46D5-B912-49B4694D4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4ED8"/>
                </a:solidFill>
              </a:defRPr>
            </a:pPr>
            <a:r>
              <a:rPr sz="975" b="1">
                <a:solidFill>
                  <a:srgbClr val="1D4ED8"/>
                </a:solidFill>
              </a:rPr>
              <a:t>07 / 边界管理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22B700-8580-4125-9795-26ACC024A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23850"/>
            <a:ext cx="914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D4ED8"/>
                </a:solidFill>
              </a:defRPr>
            </a:pPr>
            <a:r>
              <a:rPr sz="975" b="1">
                <a:solidFill>
                  <a:srgbClr val="1D4ED8"/>
                </a:solidFill>
              </a:rPr>
              <a:t>08 / 09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3BFCB7-C704-4102-ACB5-CC12594A4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00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B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8FEBE9-BD37-446F-BAFE-8BE11D0D9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8572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赠送可以，边界必须说清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0F6F8A-4076-45A5-9A5E-DE172258F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43100"/>
            <a:ext cx="8572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额外探索不能变成双方的验收压力。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E4665A-3564-448F-BCD7-82848AED5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048000"/>
            <a:ext cx="9525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5EA8BF-2250-4714-A3AA-47F104CFB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219450"/>
            <a:ext cx="1219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F766E">
              <a:alpha val="13333"/>
            </a:srgbClr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14F055-5433-4AE1-A40A-450B61449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324225"/>
            <a:ext cx="1219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F766E"/>
                </a:solidFill>
              </a:defRPr>
            </a:pPr>
            <a:r>
              <a:rPr sz="1125" b="1">
                <a:solidFill>
                  <a:srgbClr val="0F766E"/>
                </a:solidFill>
              </a:rPr>
              <a:t>可试用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64C64F-E4B9-42C8-82CE-C7502F5EE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286125"/>
            <a:ext cx="7334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</a:defRPr>
            </a:pPr>
            <a:r>
              <a:rPr sz="1350" b="0">
                <a:solidFill>
                  <a:srgbClr val="0B1F3A"/>
                </a:solidFill>
              </a:rPr>
              <a:t>随项目提供基础能力，供关键用户体验客户级商机经营视角。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3E3DC0-F63B-4843-8FC2-7B24925F9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38600"/>
            <a:ext cx="9525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2D2791-5520-4991-9A99-0F30D4C3A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210050"/>
            <a:ext cx="1219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D4ED8">
              <a:alpha val="13333"/>
            </a:srgbClr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12E368-1906-4569-8681-B98E2F722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314825"/>
            <a:ext cx="1219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D4ED8"/>
                </a:solidFill>
              </a:defRPr>
            </a:pPr>
            <a:r>
              <a:rPr sz="1125" b="1">
                <a:solidFill>
                  <a:srgbClr val="1D4ED8"/>
                </a:solidFill>
              </a:rPr>
              <a:t>不验收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CB4FC9-C550-4464-A224-861E2213F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276725"/>
            <a:ext cx="7334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</a:defRPr>
            </a:pPr>
            <a:r>
              <a:rPr sz="1350" b="0">
                <a:solidFill>
                  <a:srgbClr val="0B1F3A"/>
                </a:solidFill>
              </a:rPr>
              <a:t>不纳入本期SOW、UAT、上线验收、付款节点和缺陷关闭标准。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C8E97E1-569E-41C3-B576-1D16AAC88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029200"/>
            <a:ext cx="9525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105F54-BD39-41B6-B661-C68FC5C00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200650"/>
            <a:ext cx="1219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B45309">
              <a:alpha val="13333"/>
            </a:srgbClr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C5EFD4A-D8A7-4622-A15B-1285D2678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305425"/>
            <a:ext cx="1219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B45309"/>
                </a:solidFill>
              </a:defRPr>
            </a:pPr>
            <a:r>
              <a:rPr sz="1125" b="1">
                <a:solidFill>
                  <a:srgbClr val="B45309"/>
                </a:solidFill>
              </a:rPr>
              <a:t>不承诺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111ACB7-07DB-4B3A-9DBC-1B8C83BD8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67325"/>
            <a:ext cx="7334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</a:defRPr>
            </a:pPr>
            <a:r>
              <a:rPr sz="1350" b="0">
                <a:solidFill>
                  <a:srgbClr val="0B1F3A"/>
                </a:solidFill>
              </a:rPr>
              <a:t>预测准确率、外部数据接入、CRM深度集成和自动采集器进入后续优化。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7C2307F-6D7E-458F-A0FD-304663B0A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33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西域集团投标管理平台项目 · 项目经理个人分享</a:t>
            </a:r>
          </a:p>
        </p:txBody>
      </p:sp>
    </p:spTree>
    <p:extLst>
      <p:ext uri="{BB962C8B-B14F-4D97-AF65-F5344CB8AC3E}">
        <p14:creationId xmlns:p14="http://schemas.microsoft.com/office/powerpoint/2010/main" val="185287461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C0B6A10-8CF5-4F42-80D6-7725882007B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82A751-CA56-498F-83C4-1491C247E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BAA7C8-623F-42B2-B528-A28074FBF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509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09340F-E5C3-4133-8278-300BFE525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D2CC44-410E-4655-84FF-D40ADFF12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152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7E90C9-169A-433B-BFCC-CDFD9CF57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781050"/>
            <a:ext cx="30480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812082-F4EE-409C-A9B7-A807AB928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219700"/>
            <a:ext cx="2667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DBEE76-6A6F-454C-8F44-EF59F882C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4ED8"/>
                </a:solidFill>
              </a:defRPr>
            </a:pPr>
            <a:r>
              <a:rPr sz="975" b="1">
                <a:solidFill>
                  <a:srgbClr val="1D4ED8"/>
                </a:solidFill>
              </a:rPr>
              <a:t>08 / 项目共识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AACAC0-9D4F-4CD9-B090-8EDE3BD3D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23850"/>
            <a:ext cx="914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D4ED8"/>
                </a:solidFill>
              </a:defRPr>
            </a:pPr>
            <a:r>
              <a:rPr sz="975" b="1">
                <a:solidFill>
                  <a:srgbClr val="1D4ED8"/>
                </a:solidFill>
              </a:rPr>
              <a:t>09 / 09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439B19-BE36-4067-B519-C2884C894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00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B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B3723E-5600-4B7B-AE42-27DBAA01D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8191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我们交付的不只是系统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B23849-7846-4ECF-A303-CBFCF5533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43100"/>
            <a:ext cx="8572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也希望一起升级一套更适合AI时代的工作方式。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DB16B3-B160-48EE-B2C4-23A654E3D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05150"/>
            <a:ext cx="40386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7D2F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0B205D-4DFE-42D0-87B6-F65557290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34327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301B8C-6A72-4933-81EC-05C24A695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381375"/>
            <a:ext cx="2762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把会议变资产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8A9006-C9E6-4871-A846-3F74FB3A4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105150"/>
            <a:ext cx="40386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7D2F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91AE1E-9691-4D74-86FE-B62C0CDCA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34327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54308A-FFE3-4BDC-AD22-99588B01B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381375"/>
            <a:ext cx="2762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把分歧变结构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4C145A-3480-44EB-AF37-8B696C117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305300"/>
            <a:ext cx="40386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7D2F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E641B26-719D-4BCA-9DCA-7D126F2CB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54342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588FCC0-A098-4AEB-8B08-8F346D883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581525"/>
            <a:ext cx="2762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把经验变技能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E09B178-2639-4671-8074-D414B30D3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305300"/>
            <a:ext cx="40386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7D2F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7E2CB1C-B81A-4181-85D6-532AB1E8E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54342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240D855-D35F-4B34-8424-E435B39EC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581525"/>
            <a:ext cx="2762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把个人能力变团队能力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588F133-34B5-49E7-82A6-90CC7BB28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753100"/>
            <a:ext cx="8001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D4ED8"/>
                </a:solidFill>
              </a:defRPr>
            </a:pPr>
            <a:r>
              <a:rPr sz="1575" b="1">
                <a:solidFill>
                  <a:srgbClr val="1D4ED8"/>
                </a:solidFill>
              </a:rPr>
              <a:t>让项目不只完成交付，也沉淀一套可复用的工作方式。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D51B0C3-29CD-48DB-BC46-B28CDAAA5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33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西域集团投标管理平台项目 · 项目经理个人分享</a:t>
            </a:r>
          </a:p>
        </p:txBody>
      </p:sp>
    </p:spTree>
    <p:extLst>
      <p:ext uri="{BB962C8B-B14F-4D97-AF65-F5344CB8AC3E}">
        <p14:creationId xmlns:p14="http://schemas.microsoft.com/office/powerpoint/2010/main" val="178779648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2026-04-21T23:21:53.4580000Z</dcterms:created>
  <dcterms:modified xsi:type="dcterms:W3CDTF">2026-04-21T23:21:53.4580000Z</dcterms:modified>
</coreProperties>
</file>