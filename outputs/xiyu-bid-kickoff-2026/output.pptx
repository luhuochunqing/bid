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2f12f168a434d" /><Relationship Type="http://schemas.openxmlformats.org/officeDocument/2006/relationships/extended-properties" Target="/docProps/app.xml" Id="R6c2586fd9cb0486c" /><Relationship Type="http://schemas.openxmlformats.org/officeDocument/2006/relationships/officeDocument" Target="/ppt/presentation.xml" Id="Ra42fb2dee55c48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92dd11931e45d2"/>
  </p:sldMasterIdLst>
  <p:notesMasterIdLst>
    <p:notesMasterId xmlns:r="http://schemas.openxmlformats.org/officeDocument/2006/relationships" r:id="R4777c2e7f7424241"/>
  </p:notesMasterIdLst>
  <p:sldIdLst>
    <p:sldId xmlns:r="http://schemas.openxmlformats.org/officeDocument/2006/relationships" id="256" r:id="Rc7656ed623db47a6"/>
    <p:sldId xmlns:r="http://schemas.openxmlformats.org/officeDocument/2006/relationships" id="257" r:id="R6f7452dce1b64c08"/>
    <p:sldId xmlns:r="http://schemas.openxmlformats.org/officeDocument/2006/relationships" id="258" r:id="Rafdd8d045fd9441c"/>
    <p:sldId xmlns:r="http://schemas.openxmlformats.org/officeDocument/2006/relationships" id="259" r:id="Rf236ec8f4a3f4e49"/>
    <p:sldId xmlns:r="http://schemas.openxmlformats.org/officeDocument/2006/relationships" id="260" r:id="R73688b12c32f4489"/>
    <p:sldId xmlns:r="http://schemas.openxmlformats.org/officeDocument/2006/relationships" id="261" r:id="R299d89e2531b444c"/>
    <p:sldId xmlns:r="http://schemas.openxmlformats.org/officeDocument/2006/relationships" id="262" r:id="Rda53ff2951d242df"/>
    <p:sldId xmlns:r="http://schemas.openxmlformats.org/officeDocument/2006/relationships" id="263" r:id="R40e459afd0f54a44"/>
    <p:sldId xmlns:r="http://schemas.openxmlformats.org/officeDocument/2006/relationships" id="264" r:id="Rbac5b546020f43d9"/>
    <p:sldId xmlns:r="http://schemas.openxmlformats.org/officeDocument/2006/relationships" id="265" r:id="R805c95a1ea8848fc"/>
    <p:sldId xmlns:r="http://schemas.openxmlformats.org/officeDocument/2006/relationships" id="266" r:id="R4b2b7251a6f24dbd"/>
    <p:sldId xmlns:r="http://schemas.openxmlformats.org/officeDocument/2006/relationships" id="267" r:id="Rba53f112f0b64d74"/>
    <p:sldId xmlns:r="http://schemas.openxmlformats.org/officeDocument/2006/relationships" id="268" r:id="R0ce3fc0819a2470f"/>
    <p:sldId xmlns:r="http://schemas.openxmlformats.org/officeDocument/2006/relationships" id="269" r:id="Rf7fc8947ab044e54"/>
    <p:sldId xmlns:r="http://schemas.openxmlformats.org/officeDocument/2006/relationships" id="270" r:id="R8b27817062d4491d"/>
    <p:sldId xmlns:r="http://schemas.openxmlformats.org/officeDocument/2006/relationships" id="271" r:id="R5624b24fb9aa4725"/>
    <p:sldId xmlns:r="http://schemas.openxmlformats.org/officeDocument/2006/relationships" id="272" r:id="R5a1ccd2923e24d20"/>
    <p:sldId xmlns:r="http://schemas.openxmlformats.org/officeDocument/2006/relationships" id="273" r:id="Rd2621b99ecb744df"/>
    <p:sldId xmlns:r="http://schemas.openxmlformats.org/officeDocument/2006/relationships" id="274" r:id="R36716ea4c5434c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2dd11931e45d2" /><Relationship Type="http://schemas.openxmlformats.org/officeDocument/2006/relationships/theme" Target="/ppt/theme/theme1.xml" Id="Rf6e6b9e580d84b4c" /><Relationship Type="http://schemas.openxmlformats.org/officeDocument/2006/relationships/notesMaster" Target="/ppt/notesMasters/notesMaster1.xml" Id="R4777c2e7f7424241" /><Relationship Type="http://schemas.openxmlformats.org/officeDocument/2006/relationships/presProps" Target="/ppt/presProps.xml" Id="R5116550651ec4801" /><Relationship Type="http://schemas.openxmlformats.org/officeDocument/2006/relationships/viewProps" Target="/ppt/viewProps.xml" Id="Rfd9c99e4477248c7" /><Relationship Type="http://schemas.openxmlformats.org/officeDocument/2006/relationships/tableStyles" Target="/ppt/tableStyles.xml" Id="Rf461d03e70274b9d" /><Relationship Type="http://schemas.openxmlformats.org/officeDocument/2006/relationships/slide" Target="/ppt/slides/slide1.xml" Id="Rc7656ed623db47a6" /><Relationship Type="http://schemas.openxmlformats.org/officeDocument/2006/relationships/slide" Target="/ppt/slides/slide2.xml" Id="R6f7452dce1b64c08" /><Relationship Type="http://schemas.openxmlformats.org/officeDocument/2006/relationships/slide" Target="/ppt/slides/slide3.xml" Id="Rafdd8d045fd9441c" /><Relationship Type="http://schemas.openxmlformats.org/officeDocument/2006/relationships/slide" Target="/ppt/slides/slide4.xml" Id="Rf236ec8f4a3f4e49" /><Relationship Type="http://schemas.openxmlformats.org/officeDocument/2006/relationships/slide" Target="/ppt/slides/slide5.xml" Id="R73688b12c32f4489" /><Relationship Type="http://schemas.openxmlformats.org/officeDocument/2006/relationships/slide" Target="/ppt/slides/slide6.xml" Id="R299d89e2531b444c" /><Relationship Type="http://schemas.openxmlformats.org/officeDocument/2006/relationships/slide" Target="/ppt/slides/slide7.xml" Id="Rda53ff2951d242df" /><Relationship Type="http://schemas.openxmlformats.org/officeDocument/2006/relationships/slide" Target="/ppt/slides/slide8.xml" Id="R40e459afd0f54a44" /><Relationship Type="http://schemas.openxmlformats.org/officeDocument/2006/relationships/slide" Target="/ppt/slides/slide9.xml" Id="Rbac5b546020f43d9" /><Relationship Type="http://schemas.openxmlformats.org/officeDocument/2006/relationships/slide" Target="/ppt/slides/slide10.xml" Id="R805c95a1ea8848fc" /><Relationship Type="http://schemas.openxmlformats.org/officeDocument/2006/relationships/slide" Target="/ppt/slides/slide11.xml" Id="R4b2b7251a6f24dbd" /><Relationship Type="http://schemas.openxmlformats.org/officeDocument/2006/relationships/slide" Target="/ppt/slides/slide12.xml" Id="Rba53f112f0b64d74" /><Relationship Type="http://schemas.openxmlformats.org/officeDocument/2006/relationships/slide" Target="/ppt/slides/slide13.xml" Id="R0ce3fc0819a2470f" /><Relationship Type="http://schemas.openxmlformats.org/officeDocument/2006/relationships/slide" Target="/ppt/slides/slide14.xml" Id="Rf7fc8947ab044e54" /><Relationship Type="http://schemas.openxmlformats.org/officeDocument/2006/relationships/slide" Target="/ppt/slides/slide15.xml" Id="R8b27817062d4491d" /><Relationship Type="http://schemas.openxmlformats.org/officeDocument/2006/relationships/slide" Target="/ppt/slides/slide16.xml" Id="R5624b24fb9aa4725" /><Relationship Type="http://schemas.openxmlformats.org/officeDocument/2006/relationships/slide" Target="/ppt/slides/slide17.xml" Id="R5a1ccd2923e24d20" /><Relationship Type="http://schemas.openxmlformats.org/officeDocument/2006/relationships/slide" Target="/ppt/slides/slide18.xml" Id="Rd2621b99ecb744df" /><Relationship Type="http://schemas.openxmlformats.org/officeDocument/2006/relationships/slide" Target="/ppt/slides/slide19.xml" Id="R36716ea4c543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fe5dad9c8345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bfb1181a084d28" /><Relationship Type="http://schemas.openxmlformats.org/officeDocument/2006/relationships/notesMaster" Target="/ppt/notesMasters/notesMaster1.xml" Id="R8c3970574ceb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b298d037d14932" /><Relationship Type="http://schemas.openxmlformats.org/officeDocument/2006/relationships/notesMaster" Target="/ppt/notesMasters/notesMaster1.xml" Id="Rab28f117f7b041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1ed423db74838" /><Relationship Type="http://schemas.openxmlformats.org/officeDocument/2006/relationships/notesMaster" Target="/ppt/notesMasters/notesMaster1.xml" Id="Rcdbeb4acc6834b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50c947ae474c40" /><Relationship Type="http://schemas.openxmlformats.org/officeDocument/2006/relationships/notesMaster" Target="/ppt/notesMasters/notesMaster1.xml" Id="Rcbb17587847249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1c611121b74136" /><Relationship Type="http://schemas.openxmlformats.org/officeDocument/2006/relationships/notesMaster" Target="/ppt/notesMasters/notesMaster1.xml" Id="R1e0df164db8b43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53b1e112db45d2" /><Relationship Type="http://schemas.openxmlformats.org/officeDocument/2006/relationships/notesMaster" Target="/ppt/notesMasters/notesMaster1.xml" Id="R2edaede87cd4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7033f89d034b63" /><Relationship Type="http://schemas.openxmlformats.org/officeDocument/2006/relationships/notesMaster" Target="/ppt/notesMasters/notesMaster1.xml" Id="R22dd89cacf7d4c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138e6d9bd1404c" /><Relationship Type="http://schemas.openxmlformats.org/officeDocument/2006/relationships/notesMaster" Target="/ppt/notesMasters/notesMaster1.xml" Id="R94148930e02640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85d7c57d414bcb" /><Relationship Type="http://schemas.openxmlformats.org/officeDocument/2006/relationships/notesMaster" Target="/ppt/notesMasters/notesMaster1.xml" Id="Re84c075f7d2e45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994bfc46f43c3" /><Relationship Type="http://schemas.openxmlformats.org/officeDocument/2006/relationships/notesMaster" Target="/ppt/notesMasters/notesMaster1.xml" Id="R21f944e8b41c48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5f16b260b04fb4" /><Relationship Type="http://schemas.openxmlformats.org/officeDocument/2006/relationships/notesMaster" Target="/ppt/notesMasters/notesMaster1.xml" Id="R64eaf5effe5646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e797035ed54f08" /><Relationship Type="http://schemas.openxmlformats.org/officeDocument/2006/relationships/notesMaster" Target="/ppt/notesMasters/notesMaster1.xml" Id="Re52588db8bd841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2df60523674513" /><Relationship Type="http://schemas.openxmlformats.org/officeDocument/2006/relationships/notesMaster" Target="/ppt/notesMasters/notesMaster1.xml" Id="R892c5851da464c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84becb8205454f" /><Relationship Type="http://schemas.openxmlformats.org/officeDocument/2006/relationships/notesMaster" Target="/ppt/notesMasters/notesMaster1.xml" Id="R4c0d8e3fee7e42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da368e6d68411e" /><Relationship Type="http://schemas.openxmlformats.org/officeDocument/2006/relationships/notesMaster" Target="/ppt/notesMasters/notesMaster1.xml" Id="R2ccac9b81ed846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7d57e6667f4e51" /><Relationship Type="http://schemas.openxmlformats.org/officeDocument/2006/relationships/notesMaster" Target="/ppt/notesMasters/notesMaster1.xml" Id="Rad7970b4de1f44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2ac9eec29f4c14" /><Relationship Type="http://schemas.openxmlformats.org/officeDocument/2006/relationships/notesMaster" Target="/ppt/notesMasters/notesMaster1.xml" Id="Re1aad767557546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cf17cf80a74024" /><Relationship Type="http://schemas.openxmlformats.org/officeDocument/2006/relationships/notesMaster" Target="/ppt/notesMasters/notesMaster1.xml" Id="Rd7ba2715027545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1d1c7dd23b4dc1" /><Relationship Type="http://schemas.openxmlformats.org/officeDocument/2006/relationships/notesMaster" Target="/ppt/notesMasters/notesMaster1.xml" Id="R311d88cba69941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封面页，明确本次为投标管理平台建设项目启动会，并以SOW实施计划为汇报基线。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强调启动会不是泛泛介绍，而是把项目如何做、何时交、需要谁配合讲清楚。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项目目标用三句话讲清楚：流程闭环、过程可控、智能辅助。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正式范围和验收边界以SOW和白名单为准。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用客户管理语言描述价值，不停留在功能清单。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重点说明两组交叉窗口：05/06-05/12、06/04-06/10。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这页回应客户最关心的前期调研时间不足风险。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强化调研活动的颗粒度，避免客户觉得前期安排过短。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强调蓝图输出即实施基线。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这页回应系统实现和集成联调之间不能完全串行的问题。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系统实现页要有SOW颗粒度，便于客户理解工作量。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联调页要说明为什么提前启动，且交付物能被验收。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强调UAT和上线准备是门禁，不是形式性动作。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组织页突出决策层、统筹层和执行层。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职责表要直接服务项目推进。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项目管理页承接计划与组织，说明如何管住交付。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这页要讲清楚客户配合决定计划可执行性。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近期计划直接落到两周到四周内可执行动作。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收尾页形成客户共识，并自然引导进入启动后的行动安排。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docs/项目启动会PPT大纲与核心内容.md</a:t>
            </a:r>
          </a:p>
          <a:p xmlns:a="http://schemas.openxmlformats.org/drawingml/2006/main">
            <a:r>
              <a:t>- docs/西域数智化投标管理平台-实施计划书-6月25日上线版.md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01d18ba7a48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173C962-49EA-409C-B4F5-A2CAB38052E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3D637B9-231D-4DDC-A5AA-36F955DD6DA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4520F0-E129-4F69-9B6D-D5E45C0621A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1728C7-FDE2-4578-8CE9-74661788388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a99f44e0694e03" /><Relationship Type="http://schemas.openxmlformats.org/officeDocument/2006/relationships/slideLayout" Target="/ppt/slideLayouts/slideLayout2.xml" Id="R6bca7a12058a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AF9278-D216-4EC3-A334-1E0BF8FA156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a7a12058a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c6bfb5601341e3" /><Relationship Type="http://schemas.openxmlformats.org/officeDocument/2006/relationships/image" Target="/ppt/media/image.png" Id="Red4bac38d0794bcd" /><Relationship Type="http://schemas.openxmlformats.org/officeDocument/2006/relationships/notesSlide" Target="/ppt/notesSlides/notesSlide1.xml" Id="Rf7792fa0784b43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052c61d704b66" /><Relationship Type="http://schemas.openxmlformats.org/officeDocument/2006/relationships/image" Target="/ppt/media/image2.png" Id="Re364124734254398" /><Relationship Type="http://schemas.openxmlformats.org/officeDocument/2006/relationships/notesSlide" Target="/ppt/notesSlides/notesSlide2.xml" Id="Raad80df2a513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ea7e726594830" /><Relationship Type="http://schemas.openxmlformats.org/officeDocument/2006/relationships/image" Target="/ppt/media/image3.png" Id="R4f31344e971c4e2d" /><Relationship Type="http://schemas.openxmlformats.org/officeDocument/2006/relationships/notesSlide" Target="/ppt/notesSlides/notesSlide3.xml" Id="R8ac5341fb610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4eafb0a20434d" /><Relationship Type="http://schemas.openxmlformats.org/officeDocument/2006/relationships/image" Target="/ppt/media/image4.png" Id="Rbb7e3a90afac490c" /><Relationship Type="http://schemas.openxmlformats.org/officeDocument/2006/relationships/notesSlide" Target="/ppt/notesSlides/notesSlide4.xml" Id="R653c6b677efa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79435e53a4c9b" /><Relationship Type="http://schemas.openxmlformats.org/officeDocument/2006/relationships/image" Target="/ppt/media/image5.png" Id="Reae5fc6a3f434e2d" /><Relationship Type="http://schemas.openxmlformats.org/officeDocument/2006/relationships/notesSlide" Target="/ppt/notesSlides/notesSlide5.xml" Id="Raaf48c957b9148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8b5a63c784443" /><Relationship Type="http://schemas.openxmlformats.org/officeDocument/2006/relationships/image" Target="/ppt/media/image6.png" Id="Rfc66708af74a47f6" /><Relationship Type="http://schemas.openxmlformats.org/officeDocument/2006/relationships/notesSlide" Target="/ppt/notesSlides/notesSlide6.xml" Id="Rcec62f5b885447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42efa1f094b39" /><Relationship Type="http://schemas.openxmlformats.org/officeDocument/2006/relationships/image" Target="/ppt/media/image7.png" Id="Rc804eb78913e4692" /><Relationship Type="http://schemas.openxmlformats.org/officeDocument/2006/relationships/notesSlide" Target="/ppt/notesSlides/notesSlide7.xml" Id="R46231bedf19640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eb25632cc4468a" /><Relationship Type="http://schemas.openxmlformats.org/officeDocument/2006/relationships/image" Target="/ppt/media/image8.png" Id="R2a56bc92ab9d48e3" /><Relationship Type="http://schemas.openxmlformats.org/officeDocument/2006/relationships/notesSlide" Target="/ppt/notesSlides/notesSlide8.xml" Id="Rc2aaa8812f6b4f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9870b4d244248" /><Relationship Type="http://schemas.openxmlformats.org/officeDocument/2006/relationships/image" Target="/ppt/media/image9.png" Id="R60d6249374934604" /><Relationship Type="http://schemas.openxmlformats.org/officeDocument/2006/relationships/notesSlide" Target="/ppt/notesSlides/notesSlide9.xml" Id="R49dc0b023b0c44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c74b278c54916" /><Relationship Type="http://schemas.openxmlformats.org/officeDocument/2006/relationships/image" Target="/ppt/media/image10.png" Id="R7aa53787016a4ae2" /><Relationship Type="http://schemas.openxmlformats.org/officeDocument/2006/relationships/notesSlide" Target="/ppt/notesSlides/notesSlide10.xml" Id="R566b256d4edd4e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934edb6505486d" /><Relationship Type="http://schemas.openxmlformats.org/officeDocument/2006/relationships/image" Target="/ppt/media/image11.png" Id="R6c6a60a7ae7f42b6" /><Relationship Type="http://schemas.openxmlformats.org/officeDocument/2006/relationships/notesSlide" Target="/ppt/notesSlides/notesSlide11.xml" Id="Rf76d93b3768b49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06182e2fd4839" /><Relationship Type="http://schemas.openxmlformats.org/officeDocument/2006/relationships/image" Target="/ppt/media/image12.png" Id="R572763b4c77048ba" /><Relationship Type="http://schemas.openxmlformats.org/officeDocument/2006/relationships/notesSlide" Target="/ppt/notesSlides/notesSlide12.xml" Id="Rc90580bc221043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b6a777e66b409f" /><Relationship Type="http://schemas.openxmlformats.org/officeDocument/2006/relationships/image" Target="/ppt/media/image13.png" Id="R3a12ef7d1ab44e1e" /><Relationship Type="http://schemas.openxmlformats.org/officeDocument/2006/relationships/notesSlide" Target="/ppt/notesSlides/notesSlide13.xml" Id="R306a795af0f34a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f8211956094ee8" /><Relationship Type="http://schemas.openxmlformats.org/officeDocument/2006/relationships/image" Target="/ppt/media/image14.png" Id="Rce2ac1d1f811428b" /><Relationship Type="http://schemas.openxmlformats.org/officeDocument/2006/relationships/notesSlide" Target="/ppt/notesSlides/notesSlide14.xml" Id="R704556c3b53949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afcf5e9e564dff" /><Relationship Type="http://schemas.openxmlformats.org/officeDocument/2006/relationships/image" Target="/ppt/media/image15.png" Id="R1b2d490363e24f32" /><Relationship Type="http://schemas.openxmlformats.org/officeDocument/2006/relationships/notesSlide" Target="/ppt/notesSlides/notesSlide15.xml" Id="Rd4e14c86871543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3855126cf40f4" /><Relationship Type="http://schemas.openxmlformats.org/officeDocument/2006/relationships/image" Target="/ppt/media/image16.png" Id="R46c88ae1c4f2469c" /><Relationship Type="http://schemas.openxmlformats.org/officeDocument/2006/relationships/notesSlide" Target="/ppt/notesSlides/notesSlide16.xml" Id="Rb8ffce8a91114f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7ff18028e14c9c" /><Relationship Type="http://schemas.openxmlformats.org/officeDocument/2006/relationships/image" Target="/ppt/media/image17.png" Id="R681a2aec0f3a46d5" /><Relationship Type="http://schemas.openxmlformats.org/officeDocument/2006/relationships/notesSlide" Target="/ppt/notesSlides/notesSlide17.xml" Id="R1e59f56a552c4c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e0b28d5c7a4091" /><Relationship Type="http://schemas.openxmlformats.org/officeDocument/2006/relationships/image" Target="/ppt/media/image18.png" Id="R1eabbb72e07f4a10" /><Relationship Type="http://schemas.openxmlformats.org/officeDocument/2006/relationships/notesSlide" Target="/ppt/notesSlides/notesSlide18.xml" Id="Rb4de5402a16f4b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1d55c9bfd4f4d" /><Relationship Type="http://schemas.openxmlformats.org/officeDocument/2006/relationships/image" Target="/ppt/media/image19.png" Id="Rca0551ef0c3e4e0f" /><Relationship Type="http://schemas.openxmlformats.org/officeDocument/2006/relationships/notesSlide" Target="/ppt/notesSlides/notesSlide19.xml" Id="R9c4524ae733446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bac38d0794bc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C6FC8-C9E2-416C-A499-E923B6B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B1A8C-E1D8-4826-9037-C37EB03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50857-40AD-46ED-B1BD-149B3C0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PROJECT KICK-OFF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C832A-9AE8-413C-940B-493DE076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33A"/>
                </a:solidFill>
              </a:defRPr>
            </a:pPr>
            <a:r>
              <a:rPr sz="3600" b="1">
                <a:solidFill>
                  <a:srgbClr val="12233A"/>
                </a:solidFill>
              </a:rPr>
              <a:t>西域数智化投标管理平台</a:t>
            </a:r>
          </a:p>
          <a:p xmlns:a="http://schemas.openxmlformats.org/drawingml/2006/main">
            <a:pPr algn="l">
              <a:defRPr sz="3600" b="1">
                <a:solidFill>
                  <a:srgbClr val="12233A"/>
                </a:solidFill>
              </a:defRPr>
            </a:pPr>
            <a:r>
              <a:rPr sz="3600" b="1">
                <a:solidFill>
                  <a:srgbClr val="12233A"/>
                </a:solidFill>
              </a:rPr>
              <a:t>建设项目启动会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E33CC-7E96-47A2-9A72-EF94F579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把目标、边界、节奏和配合方式一次说清楚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423B7-CE02-4DD9-837C-195CCC2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CA121-A074-411B-ACEA-C7AF7EB8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33A"/>
                </a:solidFill>
              </a:defRPr>
            </a:pPr>
            <a:r>
              <a:rPr sz="1725" b="1">
                <a:solidFill>
                  <a:srgbClr val="12233A"/>
                </a:solidFill>
              </a:rPr>
              <a:t>6/25上线倒排 · 40个有效工作日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9B6CA-7A82-49F1-AD5F-B5481EA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285017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412473425439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DD9DB-84D6-4007-A397-5DE69E2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04F54-BD87-4244-87BF-F05AE559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01 会议目标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86A1E-E95B-4A9E-A527-114E0AF0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4F00C-46B1-43C7-B047-A63FA9B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0A583-7E70-42AD-8889-272E854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78C73-CBE9-4B8C-856C-021E6DC4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今天先把四件事对齐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AF838-68F3-43DE-B30B-38E84F09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项目怎么做、什么时候交、谁来配合、问题怎么推进。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4F28B-F96F-4BFE-A3E0-0A404861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0DD29-2109-4F3C-A24D-2FF6AD2A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F2B14-0314-499F-9271-74AD5D1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A948A-F00C-4E91-B830-8CE68A3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B4F8E-2F58-4748-AEEC-A4EA9E75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5E692-562E-427A-BD69-359704A3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9B29F-3B7D-4E04-A36E-60242C0B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范围边界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8C706-CEB7-4552-878E-665D539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本期交什么、不交什么，今天先讲清楚，后面少走弯路。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CF0DC-8111-458A-8527-32544C5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A8CCD-4A79-4BBC-A3E3-9E31A86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B8F77-1AC3-4DC3-8CC4-A6528EE5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6D4820-9D65-4DC8-86AA-8B49164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1E908-471E-4C0A-BA8C-76D99EA3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A03E7-1C9A-45A3-80F7-0D446DA3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17E7F-36CC-45E2-ADC3-19A7AF9B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上线计划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6821B-4B4B-4AA4-BCB3-0AC52AE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围绕6月25日上线倒排，说明哪些工作要并行、哪些节点必须</a:t>
            </a:r>
          </a:p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守住。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9D5B6-E40D-41E1-B8AF-21232BF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9E185-8A03-4611-AD7A-2DF37F3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A2E5BB-8D32-4243-8FF6-591EE3A0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57221-39C0-416E-8467-57039503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F215A-652B-45E0-9029-CDEB6E2F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824A8-054D-45CC-B81A-147CADD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BA35A6-940B-47CB-8FD4-A2B05493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组织协同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719CA-EF89-4151-9637-FAACC2C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负责人、关键用户、接口人和例会节奏，今天先对到人。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58BE3-A087-4081-A841-FAB8A5C4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494566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344e971c4e2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60731-9E0F-492A-961A-371AB226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83603-13B7-4D47-BE6F-60D2B6D6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BBF13-DBC9-4F8D-9CF2-BF78E052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1EBB0-19CE-4AB8-A8D8-862D3F09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B9BED-0776-45B6-A9C4-0B77EE61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F05B4-1014-4ED2-BC47-0361C0E6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目标：让投标过程在线、可管、可复盘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67255-C4CE-434B-AF40-A3AE293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从标讯到中标结果，把过程和经验都沉淀下来。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B97E-1BBD-47CE-BEAE-9E5C0A8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8DB0A-DCC9-4C68-AE02-B5A8C29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92FB0-8ECE-4B5B-A4FB-66E33620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全流程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5BE50-7061-427D-BE2D-7380D4D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商机/标讯到结果闭环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B56CD-0EC0-460A-BE02-115B45A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主线不掉线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90EBF-0722-4AC5-92B6-B94622F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7377D-18A2-4716-955D-E3CBF50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C1E6E-E11F-4B2F-A7ED-02C2E9D4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可追溯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59E5F-FD4D-4A64-8907-D2210029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任务、文档、资源、费用有记录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4127F-B5CC-4BEA-B941-3A6FF0F5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责任和证据清楚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FF781-4191-4228-A3DE-A7EE4054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64F8B-3D82-4CC4-B815-F1C23E25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28E44-6A42-4192-B8FB-4BD30E11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智能化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5AC6E-D79D-419B-8A7D-18CAFCDC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AI分析、合规检查、评分辅助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665D4-A151-4143-8A5D-CFE2AD43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风险早一点看见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423C4-756D-486A-B1CA-BA225FA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956219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e3a90afac490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1D4A9-0452-493D-9BBE-C4E907C0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1C4AC-7AAC-4532-B477-5CB61BE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B7223-4A19-40FC-9E16-973810C9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EDEB8-0B8D-48E7-8732-51FFE82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12715-2588-4610-8D72-8D9E296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0B88D-1C86-44A2-A3DF-D5A3531D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本期范围先按白名单执行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FCAFD-F533-4810-80CB-4937B16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能上线、能验收的放进本期；还没闭环的先不挤进来。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4670C-FAAA-4EA2-A5D8-A1AA247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F4706-3F25-4AF7-87E7-EDE614FB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C923B-7592-45F1-A65E-74CDF69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F99B2-C341-44E3-AFD9-4831330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A22A7-1DBF-422C-BE1D-D3A63496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E3693-C3D3-4EBA-822D-97B0C93B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06947-0F6D-4288-BDE2-5D5DA36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0E190-584E-4943-8EF1-28245308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CBB03-E508-4DE3-90A9-C05E3F0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业务主线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E4B25-9930-4896-913D-D10BE41C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标讯录入、AI分析、项目立项、任务协同、标书过程、结果归档。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FB4D4-4CFC-434E-BDE9-CBF6075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主链路页面与接口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111B8-7BE7-4A03-8B78-941BE0C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7638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9CF52-ACE4-4793-BCB4-34B2A934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57638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FD434-87E4-4CE6-8C17-7726035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57638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E53B8-5371-41AF-B0B5-0784089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3363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知识资产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2A10D-4B17-4B60-AC73-5C795C3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3838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资质、案例、模板、平台账户、BAR证书、合同借阅统一管理。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9755E-9BE0-4C42-8659-3463A49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3838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知识与资源中心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4B189-B7CA-4961-A343-C065192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2FCB9D-B8DC-491C-A773-A9333958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ABF1B-75A0-4C17-BBF2-CBE87667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E9F17-F7CD-4F85-9A35-43AE3943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数据分析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6A25C6-D569-4910-B18B-37D7DAAF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管理驾驶舱、中标率、ROI、竞对、区域和产品线分析。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C63BA4-D7B6-46B3-8159-C6F78E6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驾驶舱与报表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C2E944-0D84-4BA2-9A1F-02514EC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2113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09163-6BED-4855-B3DD-B4AA6437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72113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2D501C-09F9-49C0-8872-D7C31DC7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72113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5C94AF-9834-484A-B9C0-E3913821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7838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集成发布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6476A0-0501-447E-AA6C-F71C2A9E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48313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CRM、OA、组织架构、消息提醒分步接入，并完成上线演练。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011599-2FC5-43EC-A14C-823D9F77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48313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联调与上线材料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FAF3F6-5475-49E9-B871-E65B0374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69463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5fc6a3f434e2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38CCA-9503-4166-9769-32AD84AD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7A43E-0D29-4937-9DB9-57D03493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02 项目目标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11FDC-AEC0-457E-B3E6-BB401D1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B1569-41D3-45C8-B78D-31334D76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99B3E-00AB-49E1-BB95-A51A98D3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54A2B-ED03-4F69-9D06-79D02589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上线后，希望管理方式有这些变化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87C9F-7030-46DF-AE01-1198810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少一点分散追问，多一点过程透明。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90FA0-3491-4118-A066-E472A65D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8B86F-3EE1-4FF0-B626-B2EA7D3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F1080-4F9D-49C7-87E8-86747296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082A4-39EA-49E7-B80C-65786360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12A5B-5DBC-423E-A6D9-88F9472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362D3-1AC4-425B-8AEC-9D0CD5F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AF86C-1AB9-447B-A473-03558D96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6DD4C-F6E1-45DC-B207-82B2002A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410F4-B997-4131-B089-E065E7E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统一入口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07AE8-C994-47A1-8471-062DCD89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标讯、项目、资料、费用统一入口、统一台账。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C3DE6-0BE4-4556-8D08-9E7E83C6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少反复找人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34C88-3A2F-4482-A3BE-525E54E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7638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3CC4C-8186-4FE2-8A4B-8615ADF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57638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72169-02D9-4436-BF07-E2D8E4E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57638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DCFA7-B206-4FA9-94A0-179CB1BD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3363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过程可控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45FA3-D99E-480F-B166-99126E3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3838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任务、文档、审批、证书、保证金都有记录。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F238A-19F2-4B96-9284-5416C03F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3838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责任说得清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EE8BA-74E7-4097-95D5-E42D0DC8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13D92-DF93-4088-B666-D442061B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495FEC-D3EF-4740-A620-7AB7B282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E3D7F-6DE1-4C8D-91A1-5A1E3CC7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风险前置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D6F07F-BAF7-4410-ABE6-4FF4EA63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截标、资质、合规、评分等风险提前提醒。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AF65F-6676-49A0-B8C2-D4B5A5CE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少临时救火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BCCBC2-CBFB-43AA-9446-8D231C23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2113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BC97E5-ADBC-4ACE-9523-8FF41EE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72113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5FE356-C8FA-4B4E-AA8E-6C0A853C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72113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36BA0A-7F06-48B0-95CE-EACF22A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7838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决策有据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623981-75A1-4DD1-8BF2-577D7912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48313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中标率、投入产出、竞对态势、区域分布能看得见。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2E4E68-97B3-48EA-85F4-2499001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48313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复盘有依据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553AE6-8AB2-45B2-BF59-98996254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71688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6708af74a47f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97C04-C10B-4B6F-AFC3-6DAA54F3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18C5-3734-49BF-80B5-0DBB9AB8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B340B-76D0-43EF-A0C6-A5D34C8F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BF737-C724-4E47-AAE9-63C6795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69F1B-7E42-4352-8992-D1F1581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448C1-2654-48F5-B88B-39DA4BA8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28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项目节奏：按6/25上线倒排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8DB03-2DC5-4EA9-B503-986BB471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周末和法定节假日不算工期；时间紧，所以部分工作要前后搭着做。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A04BF-377F-4596-8FA4-BB98CEE0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347BA-20F7-44DE-B6DF-F843347F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144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EBAEA-69A1-4D53-8A48-B4F1D27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0572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67D0A-B271-45FD-85FE-3BFC369A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144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约40个有效工作日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F52BC-6F83-4D31-963F-4CC41DA5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144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31F02-B8E6-4239-874E-9ED217DC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144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93BF3-BB95-45D1-8507-1E36100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572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阶段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C49A5-677A-4EA7-8A1A-ADAED62C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144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6个阶段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2A84E-1047-48EE-AAD7-9E858AA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914400"/>
            <a:ext cx="13525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6B9A7-1B42-4F75-8D74-A87B4B2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9144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C26EE-744E-41FE-9C39-33E3EFA3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05727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交叉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C2581-D847-47B9-9299-2A5CFCE1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3144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2组前置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EFD07-8651-4019-A6A3-0EBD2A09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62300"/>
            <a:ext cx="1143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2B43C-E321-4C3D-927C-7EBB8DE8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04/27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39C21-8318-4A43-A03E-0848C926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958" y="3162300"/>
            <a:ext cx="1143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52674-F99E-4315-8E2C-40512D0F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308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B7D4A-CB09-464A-9465-3FC7F9D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967" y="3162300"/>
            <a:ext cx="1143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EB689-8436-407C-82B2-5B5E74BA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17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D7D359-B475-4A73-8E5E-6857A80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62300"/>
            <a:ext cx="1143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3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9C44E1-6CD0-47C6-A5F7-6C59C051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33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98206-AC50-4450-AE48-94B828D9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090" y="3219450"/>
            <a:ext cx="957343" cy="2819400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D6A23A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F2C322-2878-4886-B2A1-8F491C2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90" y="6076950"/>
            <a:ext cx="110974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4465C"/>
                </a:solidFill>
              </a:defRPr>
            </a:pPr>
            <a:r>
              <a:rPr sz="750" b="0">
                <a:solidFill>
                  <a:srgbClr val="34465C"/>
                </a:solidFill>
              </a:rPr>
              <a:t>调研/蓝图交叉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FBAFFB-F63B-4D4E-A6F8-1298D5F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874" y="3219450"/>
            <a:ext cx="957343" cy="2819400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D95F45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CA41B0-1624-425A-8571-D282B217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674" y="6076950"/>
            <a:ext cx="110974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4465C"/>
                </a:solidFill>
              </a:defRPr>
            </a:pPr>
            <a:r>
              <a:rPr sz="750" b="0">
                <a:solidFill>
                  <a:srgbClr val="34465C"/>
                </a:solidFill>
              </a:rPr>
              <a:t>实现/联调交叉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A0C439-9428-4ED2-B05B-91954E54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启动与业务调研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D8FE42-EAE9-4832-B81E-8D7151E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847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62BFAF-3018-4812-A10C-70B8BE7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05175"/>
            <a:ext cx="2250483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5F5175-A0E9-4A95-9CA2-9B6FD65E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9个工作日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D0AEEB-8B78-4118-9F80-BF3C383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623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04/27-05/12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BCFA94-53C4-4393-883C-EF95771E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蓝图设计与确认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A69F2D-B629-4FDA-ADCC-23FB404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90950"/>
            <a:ext cx="847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DBDA54-0AD6-4936-97C1-7A7C62E1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090" y="3762375"/>
            <a:ext cx="1963119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17E321-13FA-48AC-BC85-B2472DE3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290" y="38100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10个工作日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7B2574-16A1-422F-AB71-5B7BCA26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8195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05/06-05/19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34595D-1280-4E32-92D5-6C5CFCB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系统实现与配置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28BAA4-2A6D-4900-9798-594AC265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847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9CFF25-235B-44D5-BB6E-A993B4D5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641" y="4219575"/>
            <a:ext cx="3112576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8DA4EE-5399-41BD-91DA-D98AA21B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841" y="42672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16个工作日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09D9F-2CB8-4C73-89B8-47A89B9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2767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05/20-06/10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9B9793-E044-483B-BD37-EF5C200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集成联调与数据初始化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7CE610-E61B-41A6-A731-38DCD8D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847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101B78-29D5-46F7-AC8E-E86D351A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874" y="4676775"/>
            <a:ext cx="1963119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930824-021F-408F-B203-AF3D451D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074" y="47244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10个工作日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C18A6F-F37D-4B3C-A965-7786E795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7339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06/04-06/17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432A31-AD99-4A11-B8F6-6A9C780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UAT培训上线准备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391C1D-278A-4453-8A9E-9F1AA08F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62550"/>
            <a:ext cx="847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66C8CC-5FA4-4674-B948-DDD9D27D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378" y="5133975"/>
            <a:ext cx="138839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EB3575-AE32-4B4F-BAD5-AA280FCA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3578" y="51816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7个工作日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CD3C34-AD26-42BC-8AFC-450F27A5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1911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06/15-06/24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2FDB47-DFA6-4963-B289-2D408D22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2233A"/>
                </a:solidFill>
              </a:defRPr>
            </a:pPr>
            <a:r>
              <a:rPr sz="863" b="1">
                <a:solidFill>
                  <a:srgbClr val="12233A"/>
                </a:solidFill>
              </a:rPr>
              <a:t>上线与试运行启动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A58D2C-FA1C-4EEC-9DD3-51D57601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9750"/>
            <a:ext cx="8477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F1E861-53B6-493D-BA1C-3AF37A8A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591175"/>
            <a:ext cx="4191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A2C313-5192-409B-A9D1-D5A900E7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3880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1个工作日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81B300-E2D3-428C-9138-BC593B1A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6483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06/25-06/25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6D90E3-6D1E-41A1-A3DB-1BF7D866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246467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4eb78913e469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5AA0-817A-41C0-A86D-68783673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D1E9E-8547-4C20-8FEE-231C81DB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37BF6-5D17-4FDA-95B9-A5DFE332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EC79C-387E-493F-92DC-4D5E724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37258-B236-4EBE-9262-E377E39B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41F4D-84F7-4AE3-98AE-AC1E33A2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调研和蓝图要交叉推进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6F38E-4081-4306-AA85-E0BA82E4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边调研、边出蓝图、边校准，避免后面返工。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A6985-F24D-4829-9CE2-5C37F91B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98" y="3200400"/>
            <a:ext cx="1906732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D95F45">
              <a:alpha val="2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67A56-E24E-4654-A94D-1CECC7B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398" y="2933700"/>
            <a:ext cx="22877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5F45"/>
                </a:solidFill>
              </a:defRPr>
            </a:pPr>
            <a:r>
              <a:rPr sz="788" b="1">
                <a:solidFill>
                  <a:srgbClr val="D95F45"/>
                </a:solidFill>
              </a:rPr>
              <a:t>2026-05-06 ~ 2026-05-12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EA74A-9D67-45C7-AA47-967E08B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业务调研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24C30-84A4-4980-92E9-1CCD0FF7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657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C1C72-04E2-445D-A8A1-F55BB911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459538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3E02F-B4D8-408E-B0A1-61E98643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访谈 + 样例 + 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7898C-9116-4E93-A06F-FF6885F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04/27-05/12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2B0AD-FA42-42A3-848C-D01E724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蓝图设计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72F42-2671-48D2-87CD-4D51B1C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657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10785-E501-447D-B0AE-9BFB745D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98" y="4171950"/>
            <a:ext cx="3997902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E68E3-2FC7-41B2-B1A1-3CDBC569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198" y="4248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初稿 + 评审 + 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F6C1C-0953-4F94-A528-486D114A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05/06-05/19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7C6A2-3459-4714-8C6E-2A6833A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209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C1AAF-E9F9-421D-8780-788D2D89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D8164-65F1-4D92-B168-22A42A9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5个工作日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A2E85-2EB7-4C57-B21E-FF799D55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交叉阶段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72A2C-58C2-4F3C-BCE2-F301D3BC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2026-05-06 ~ 2026-05-12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A9BC2-FDF8-4981-B639-EC5CB149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9437B-F198-4A0E-AD1D-238AAC23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671E3-A94E-4A9C-9924-BCE518D5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04/27-05/05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4A5E3F-7822-40E8-80DB-5F60057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把人、资料、访谈计划和现状流程先准备好。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1D287-EE35-47C1-AC2E-E01A3964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20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5464C-3726-451D-B996-CF2EDFAA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2050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9849C0-A563-426A-A4F9-0AA56E65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14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05/06-05/12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43BFF1-3D53-47EA-B5DA-1BD86BB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72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蓝图先出初稿，同时继续访谈和复核关键场景。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EF44A2-7F2F-4EA5-9A6E-FC639BD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6D9C9-0C58-4315-AF0F-7043F31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486AC-A893-41F2-ADD0-EFFA6770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14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05/13-05/19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8225E-6549-42AB-A9CD-A78A711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72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把流程、原型、权限、接口和数据口径确认下来。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044C4-2F87-4398-A802-E3BF61D4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88433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6bc92ab9d48e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4D5EE-935A-414C-A9F4-31D1CEA9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0CA0E-F32D-40CF-853E-0BE386D9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0B278-9891-4EDF-9652-30D5B71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5E068-5815-49AA-8FEA-215D2ED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008F4-0C63-4439-A2CD-3D97EF3C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A7B0D-C09C-46F8-85E8-CEFA0445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业务调研：把真实情况摸清楚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99835-7F3F-43A2-B534-5B9EE23C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不只开会问需求，还要看样例、看流程、看风险。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CCB77-5DA2-47A4-AB71-156BE01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268D3-598A-4B59-BC78-6736A3C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8290B-343B-4D20-807D-F580C93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5D3C-7E5C-4DA4-B74B-18A43E6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F7797-73C5-4511-B91C-521202B3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AAB06-8776-4562-AA84-8C4FAB5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D9FAA-E535-4221-87DC-6FA9EE78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3FB58-F130-4951-B425-36B601DF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5EDD0-4287-4E68-9EBA-58013FA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启动与组织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A4F2D-8EFE-4568-86F1-68031BFC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项目组、例会节奏、沟通群和问题升级路径先建起来。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95538-0994-4F7C-AD98-2B8BCD8F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启动纪要、成员清单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E23AE-E35B-4C92-96EF-1237B8F0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619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E6F4F-6F90-4F79-ADC6-EF172CB0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19F9E-83CB-4DBE-8607-35F6D67E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C0899-4249-4FA5-87B0-57F0465D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191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现状调研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DD407-5665-4FD3-8D8E-A835C9FF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239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销售、投标、商务、技术、资源、管理层、IT分角色访谈。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FE217-FFC7-4A39-99B0-559126CA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239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调研纪要、现状流程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F64E8-A84E-46B0-9549-28C5A2A3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198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81741-91D1-4F38-B6D3-C5444423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6658D-8142-4562-816B-D9A0C8E9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C058D-CA45-4B0F-AECF-47873DCF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770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资料收集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BD3BCC-EE88-4E06-BDD4-342A96F0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8818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收集样例标书、资质、案例、模板、费用、账户、证书和合同样例。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00E502-FE00-4169-ADED-9CFC3C1B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8818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资料清单、样例数据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0810B-8D1F-482F-AF34-DBE55C1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777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7D55E-3253-4559-8A7D-173103DB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F587AC-3A9E-4488-916B-55ADD472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5CC2D2-2F73-47FE-9348-C89B83E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349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风险识别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6042C4-C7DF-45E4-AB7F-198D68F2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397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提前看接口、环境、数据、流程差异和关键用户投入风险。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FFD4EE-3A4F-4A65-BF3E-0E6C6E4E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9397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问题与风险清单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D1148-90E9-4F6B-9814-E76215E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26AEC6-F787-4858-AF3D-6DA0DFBD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0C41A-8A97-416A-8556-940764A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32E7E5-4CE5-4D7B-885C-C842464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928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补充调研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53678-59F2-4A8C-9534-D247FE9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976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蓝图初稿出来后，再回头复核流程、字段、权限和报表口径。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DEB315-3728-4E91-B505-8060ABA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9976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场景复核记录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A4B599-8FA5-44F2-8ABB-07C43D7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498751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624937493460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69C8F-2C50-4DC2-955C-873F54FF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38684-B8A8-4A98-A3A9-6CDFED0C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C8139-2F16-44E9-98DC-3A12415F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AFC85-CE11-48A3-ABD7-02C3B3CE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88369-63B0-4A9C-9BC9-4ADA39E1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8E7B9-3049-4B66-83A5-71B26828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蓝图确认，就是把实施基线定下来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F6A23-CD40-4F18-A0EB-AA93EFA9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蓝图一旦确认，新增需求就走变更，不直接挤占上线计划。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2CDDE-74FE-42CF-9FB1-92D9C3CF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E8E23-B03D-4871-AFD3-4BDDF9F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F7493-FEA8-489F-9742-6F3DFE5F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D4ADF-1173-4FD0-8048-3D821BD8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5D755-3AED-46B1-97D7-A4AB611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DF036-46B9-4F25-B481-21AAE3C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BC800-0CB8-4813-8BA3-7786A67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B19F1-E692-45FD-904E-3F8CBC13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EAAC0-203E-41EC-886D-1E4EB78C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流程蓝图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495D0-6954-4282-925B-9D6C946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把投标主流程、角色分工、关键控制点画清楚。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F4E4D-6A4B-4023-B6E2-F6732E2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流程设计文档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0990B-0052-4D57-95C3-D409D4F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619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293CA-40FC-41DA-B634-0C9B4FE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77670-94FA-4DD6-BB9A-AA05F0D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9AA84-3D0F-40C4-B644-0DA06AE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191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需求适配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BD258-0CEE-481D-BE83-9A2C0B1D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239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区分标准功能、配置实现、定制开发、接口和暂缓项。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5C607-BD6C-420D-A4CE-A323DD9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239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需求适配报告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8790C-92F3-4177-B1C3-708FCC97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198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F8BC61-86F1-44EF-9C2A-05BF327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45C8D-6B53-4E30-96B5-3B5CA3F4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9CFCD-DB4E-4ABC-AFA4-4AA3523B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770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权限设计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A3452-D338-49F8-BCD0-4ABDEB4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8818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确认组织、角色、数据范围、审批和审计口径。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52A62-D49E-447D-899C-6A7F72D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8818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权限方案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028D0-4AE7-4482-9ADC-B579394B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777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DDB9E2-8F53-448A-87AC-50CD0C9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6C73C-40FE-4B57-9713-E039A857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87D97-5F90-4C07-A12E-7EAABC9F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349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接口方案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9A3D6-E378-4E14-8347-36E1547B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397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确认CRM、OA、组织架构、消息提醒的字段和调用方式。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F7D4C8-031C-4427-9EA7-BF272684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9397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接口设计文档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51762-374B-4BA5-91CF-84FCBF25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BA4CEC-0698-4A5A-9C6A-070E1B3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B3BF49-0FFD-4735-B51C-C9512788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D2DBB6-700F-4014-8CCD-8F91B3FF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928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原型确认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B74488-0B2B-46D8-9542-D470A6B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976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关键页面、流程、报表口径和待决事项一起评审确认。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1032E2-34FF-4B99-BE40-84C7E46F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9976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原型文档、确认函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249BF5-94D4-4756-B9E0-6CD76829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3866376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53787016a4ae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FF2D9-8281-4ACD-836A-CBB15452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686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50172-4EE6-43DD-9E2E-AA925B1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82423-6B21-4A4C-941B-3DBCB6E7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10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21255-322E-4838-AA53-3C683035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17B40-58EE-4A28-8538-811E5D23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FAE26-D9C6-49FB-B260-AF3E19B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81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实现和联调也要提前咬合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4DCAA-79AB-411F-BD7E-D9F21624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能联调的模块先拉通，别等最后一周才发现接口问题。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D8C84-4DD4-4894-B18F-57807FF2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98" y="3200400"/>
            <a:ext cx="1522639" cy="1847850"/>
          </a:xfrm>
          <a:prstGeom xmlns:a="http://schemas.openxmlformats.org/drawingml/2006/main" prst="roundRect">
            <a:avLst>
              <a:gd name="adj" fmla="val 5004"/>
            </a:avLst>
          </a:prstGeom>
          <a:solidFill xmlns:a="http://schemas.openxmlformats.org/drawingml/2006/main">
            <a:srgbClr val="D95F45">
              <a:alpha val="2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E229-B9C1-47D3-98AB-CF5F0B83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9598" y="2933700"/>
            <a:ext cx="190363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5F45"/>
                </a:solidFill>
              </a:defRPr>
            </a:pPr>
            <a:r>
              <a:rPr sz="788" b="1">
                <a:solidFill>
                  <a:srgbClr val="D95F45"/>
                </a:solidFill>
              </a:rPr>
              <a:t>2026-06-04 ~ 2026-06-10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3A74D-BFCC-457E-BBE9-68CE26F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系统实现与配置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99357-DFF9-4D70-B26E-56ECC08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657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89CDF-EFCB-4580-B8A0-FBCC5B7E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5043488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9E97E-4589-49F6-B292-945019D4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24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边做边测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B1E08-8CA1-47B3-905D-9FD8616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05/20-06/10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9ADEB-4FF9-44B5-BE41-BED75352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12233A"/>
                </a:solidFill>
              </a:defRPr>
            </a:pPr>
            <a:r>
              <a:rPr sz="938" b="1">
                <a:solidFill>
                  <a:srgbClr val="12233A"/>
                </a:solidFill>
              </a:rPr>
              <a:t>集成联调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5A3B6-B7F7-45FB-A8C8-DF7BB60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0050"/>
            <a:ext cx="657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BDC3E-799A-47A3-877D-509E54B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098" y="4171950"/>
            <a:ext cx="3165702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EBF90-A614-4249-AB86-2CF57BA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398" y="4248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边接边验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7543F-6B06-4C7A-9A96-87ADE358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B7A8C"/>
                </a:solidFill>
              </a:defRPr>
            </a:pPr>
            <a:r>
              <a:rPr sz="788" b="0">
                <a:solidFill>
                  <a:srgbClr val="6B7A8C"/>
                </a:solidFill>
              </a:rPr>
              <a:t>06/04-06/17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6C102-5ED3-4143-B264-A2A917C0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209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1DA76-3678-4EC8-8CEC-1D21DC2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209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03DF6-FFC7-486E-9B8A-E06AFCFA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33A"/>
                </a:solidFill>
              </a:defRPr>
            </a:pPr>
            <a:r>
              <a:rPr sz="2550" b="1">
                <a:solidFill>
                  <a:srgbClr val="12233A"/>
                </a:solidFill>
              </a:rPr>
              <a:t>5个工作日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490DC-B4AD-440B-AC18-387D8DE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65C"/>
                </a:solidFill>
              </a:defRPr>
            </a:pPr>
            <a:r>
              <a:rPr sz="1200" b="0">
                <a:solidFill>
                  <a:srgbClr val="34465C"/>
                </a:solidFill>
              </a:rPr>
              <a:t>交叉阶段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F91AF-C7E2-4B17-9486-BEA3A131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2026-06-04 ~ 2026-06-10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9E92F-9515-4BC8-94D4-1FA092F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F106A-917B-44F9-A038-E9A6B6A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9B62C-97CE-431E-A678-E863FCD6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05/20-06/03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99EDE-118E-4DC4-8AB9-6F0CDAB7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先做主链路、权限和接口前置能力。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D232B-0DDF-487F-8D14-9207C7D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20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3F831-B309-428C-82EE-2BD79402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2050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5BB85-209B-49EC-96AA-F0E519C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14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06/04-06/10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91305-D3B4-443D-9BC8-7E791E3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72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已完成模块先给联调版本，同步准备样例数据。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B456A-67E6-46E6-97BB-DD04BC0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257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5F5E5-C673-4D63-994F-27B9870C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257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481F98-7EF7-46B6-88CD-2C6D0594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149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5F52"/>
                </a:solidFill>
              </a:defRPr>
            </a:pPr>
            <a:r>
              <a:rPr sz="900" b="1">
                <a:solidFill>
                  <a:srgbClr val="0D5F52"/>
                </a:solidFill>
              </a:rPr>
              <a:t>06/11-06/17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849406-9467-40E1-B8D0-1C64DB37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721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2233A"/>
                </a:solidFill>
              </a:defRPr>
            </a:pPr>
            <a:r>
              <a:rPr sz="900" b="0">
                <a:solidFill>
                  <a:srgbClr val="12233A"/>
                </a:solidFill>
              </a:rPr>
              <a:t>继续联调、跑SIT、做数据初始化和问题回归。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7E71F6-D387-4A6A-891F-6D9486F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601812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a60a7ae7f42b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FB9D1-F798-4938-A716-C7B02CA2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5BE54-1391-4F47-8BB6-0AE901CD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E6EC3-2229-48FE-B742-F552F6AE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FC02-7ECF-4913-8ADC-5B9782F4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2203F-3CB3-424E-86BF-37CB25A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54676-7C80-4CE2-8B65-A90E626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系统实现：分批做、分批测、分批收口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0BEE6-7057-4A9A-9C85-84A49E74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主链路先稳住，资源、分析、配置能力同步推进。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112D9-3255-4CD8-8088-7A4B02DA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CB2F0-0705-4B5A-AE0C-ECCFD03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3174F-8B43-4EFF-9B8F-B5B9DBE5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B8604-0B40-4CAE-B07C-B6B91E0D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05CEA-996F-4E41-AF7B-55169B3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4C8B8-4870-488D-8BD8-64A2D3B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9240B-5B6F-4B91-8DCC-CC5123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16860-56A6-4150-BA0C-427FE54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4C076-AFC6-4984-8187-ABECA763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任务拆解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636C1-AD93-4563-AAE6-CB503B9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按蓝图拆任务、责任人、完成标准和提测批次。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5E541-5693-43E4-922B-BFE4A7BE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TASKC任务清单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154F8-012F-48C8-B52F-4594C04A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EB46D-0D0B-4595-9879-133E8B0B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052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57394-B251-4BC9-8DE7-07004180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4ADCA-82E9-4870-8C68-ACE7B368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基础能力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FFD4B-CD83-439A-A2A1-80FD6656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8142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认证、权限、系统设置、审计日志、健康检查和数据迁移。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DA730-81A8-4540-8095-0A4486A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8142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配置说明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48A22-4078-470D-8D0A-E360EFBA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87A222-366C-4D17-A167-3A40CB48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00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81573-7B7E-4A6E-A7B3-FDBE13F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FA7B3-7684-425E-A401-DA57269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主链路能力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099572-A7DB-4B80-8AE8-C4B6190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8625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标讯、项目、任务、文档、协作、结果闭环分批实现。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B0CFD-5E4E-4690-AD98-9740441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版本提测说明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924C49-5659-47E7-9AA6-60924AD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4D92C-DDCA-4507-B0A2-BBCB837E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FF0BB-1735-4FE2-A6FB-761C7C95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FF8446-7486-409A-8926-E5CC3292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资源能力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0404C-80B1-4CD8-8631-96CA855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资质、案例、模板、费用、账户、证书和合同借阅。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0904D6-89DD-4B9C-9ABC-2A51026A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阶段测试用例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05DE6A-3C30-4250-BBC5-58F0050C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1D22D1-C64C-4ABB-AFD6-738BD57E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197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97B93D-22A6-40CD-B7BB-0F7EAED8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793BE8-C038-4AA7-9E48-3604617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分析能力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36D4CA-291F-4E22-A19A-AC087838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9590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驾驶舱、报表、ROI、中标率和竞对分析逐步提测。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D25BEB-87A0-4B96-AE89-B7D8362C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9590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分析提测记录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5C257E-51F8-41CD-A455-1EED9C0C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29F7B-EC4F-4DB1-90CF-8E34BC6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245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079A09-02DF-42BE-BF39-B1A86E9D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245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CE1D78-4C68-4B42-B0BD-718E3BA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正式版收口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5B58FD-CC8B-4FDB-B459-C53F10B5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0072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隐藏未闭环入口，清理演示能力，守住上线范围。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4B82A2-AA2E-4328-9866-2B17860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0072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范围核查记录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A11D51-A079-40C5-88AA-40943F1D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7292525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763b4c77048b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875A8-8714-459D-9607-60D0065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79959-C50A-40B6-BAD6-980E4D25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C73B8-2DCC-49E6-BC91-8D9715E9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FC72E-8603-4958-B1BF-6C70875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A03E5-DB0F-4821-A722-4923118C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C1B46-843F-437A-ABDF-9706B31B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集成联调：提前把外部依赖拉通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F1186-F191-43A3-8183-AD1F91DB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接口、数据、SIT和缺陷回归一起形成上线证据。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AABF5-4967-42A3-B155-BDD55EF1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1019B-54E0-419F-8E41-12A070A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92BBF-5D17-48D4-95C7-A98B3E9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9FB72-5EC7-4413-ADF3-E8D6D26D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24BF0-D461-4FC1-B069-FD80B5E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0E27B-6D44-4664-9E6F-F0CAFDEF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073A3-AB78-417D-9AB4-ABC32FC6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4237F-D1D8-4754-927D-3F9F9775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BF698-D102-437D-A649-5333EB6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接口准备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172AB-625C-477A-B744-7C725A1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先确认接口契约、鉴权方式、字段映射和测试环境。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F6E61-B368-4A22-9418-4BC26434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联调准备清单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34464-99E2-4DB8-97EB-B803FB3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619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111FE-6DEE-4116-8246-955E7C29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B3AE9-F983-465F-9942-23633042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1E7E5-943E-4380-915E-75AAE709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191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分批联调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585A4-F319-4B08-9864-13C77B4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239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CRM、OA、组织架构、消息提醒按成熟度分批接入。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BB688-D5F3-4664-8495-7D245458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239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接口联调记录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092734-46A3-47D0-BB34-76976FB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198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8FAA9-325B-48F4-BD5D-5E25EB94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09861-CD4C-40DF-9C82-D227BB1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74F030-956F-42C3-8B9A-0732643E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770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数据初始化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88E01-972F-458D-9B80-40383CD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8818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组织、用户、角色、字典、模板、资质、案例、账户、证书导入。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43C5B-6A99-4A5B-9FF3-182061A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8818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初始化执行记录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83FD1-B452-4BCC-87E7-E0B762E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777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127806-CA5A-413F-8537-8E803C89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285928-461D-469B-8834-6F259E8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52052-3B90-4AAB-A7FA-074470E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349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SIT测试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BD973-CD77-4B80-868F-B52E7F0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397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主链路、权限、数据一致性、导出、提醒和日志审计一起验证。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8E800-FBC2-4585-BBD1-8246285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9397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SIT测试报告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8AED04-FCB3-4746-99C0-378918DA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3799B2-F99C-4B1D-8F3F-65DBF4BE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70237D-D349-4606-A2E9-1254A35D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74607B-1443-40E3-B626-5568B931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928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问题闭环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5AB9E2-E41C-4676-A785-1DB8DCD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976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P0当天盯住，P1明确责任人、修复窗口和回归证据。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A38FC2-DEC4-409D-9A0C-A0491EB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9976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BUG修复清单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08FF29-C7D0-4A5B-88EB-8FE6BDD7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0525692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2ef7d1ab44e1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E70BF-8502-46D9-AA62-0F900EF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112B2-4147-44DF-93ED-3456ED7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03 项目规划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39FE2-B576-4B4B-9BC4-E081B6EA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0FAFA-1B1E-4D14-9532-45D1D202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11C10-CD6F-4C11-A4D5-3C25DDC5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776FD-56F6-454D-90EB-B1D4ACCA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UAT和培训：用真实场景做最后确认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7C6E0-A0D3-4EA4-98B2-9351B350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这一步不是走流程，是确认客户真的能用、敢上线。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EF486-EDF5-4E21-AFFD-0772D1A8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04C5B-B474-4459-A057-E310F0E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40641-5259-4A45-859E-79CD2AEA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12B3D-EB4B-4699-92F5-93366BC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B11AE-6A21-47E7-A50E-50AA3D38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B75C6-D063-4454-B804-CB46483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286CF-49E6-4243-BD6C-F0170E47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FEB7A-A8D4-412B-8174-64A23AB6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FE833-CE13-418F-B67F-D362347B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UAT场景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E8141-9782-4BD0-A56D-2DF1D31A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用真实场景跑认证、标讯、项目、知识库、资源和驾驶舱。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06F9B-C119-42CF-A7F0-01E366D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UAT计划与记录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6D721-1825-42AD-8AAF-7AC736E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619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246A1-0970-4C36-AE13-DC7E2298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B5C0B-54DE-4933-BCC4-930B00D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941FA-7C1A-4A5E-8D42-64C491B5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191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问题回归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445FD-0F46-48EC-B58E-E279A5A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239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问题登记、分级处理、修复回归、双方确认关闭。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4CD07-32D9-44E9-96CC-0DE16AFA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239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回归报告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723E10-BDF6-4BD4-8906-A52499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198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6C998-7E1D-4C91-A9EC-DDD6F97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BC36D-6B0B-4FE9-93BE-128A69A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2B377-BCBB-4CB8-B768-3CD03ED1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770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培训交接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C5F481-4BAC-4CC4-9C1E-FE5BC35D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8818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管理员、关键用户、业务用户分层培训，现场答疑。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C8B44-5B5C-4CA4-B389-F7609F0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8818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课件、签到记录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044402-CBBA-4B2D-81EC-1E90822A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777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5AA806-F50F-47AC-9303-54CD1E79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0D3E9-D1FC-43FB-A2B0-0F0AB911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F71D6C-190F-45B3-B0B8-111BA83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349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上线演练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2284D-52B8-46C8-97EE-2805B73E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397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提前演练发布、备份、回滚、健康检查和应急联系人。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8E6BF1-E58A-4C43-ABE1-C8140C3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9397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演练报告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C9AECB-8CB0-4E06-970D-B59985A3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08F940-7CDC-47CC-932E-08FD796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F6226A-D361-4291-B2B7-4D36F5F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568D30-3086-4BC3-9A8A-729ACD93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928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上线门禁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1E004-8FA8-4477-A36A-E19DC6DB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976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UAT签字、P0清零、P1有计划、上线检查表通过。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B6A974-8B34-4A71-BF2D-ADF783CD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9976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上线确认材料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F70DB6-5D8C-4102-A7B6-EA67737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1020865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ac1d1f811428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9C736-9709-484B-844B-7E4FCA5A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76177-2F45-470C-BDF6-0CB3A8D0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项目组织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D9642-B661-422A-9282-8939BF1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E1F5C-0202-4B44-8F35-F0A168FF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E53A0-EAFC-41F2-8F65-7ED93660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EF301-D8DB-44AA-A5EF-96B3FB52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项目组织：有人拍板，也有人推进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11D93-4F1B-4C3D-8D36-48CEA0C0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领导小组管方向，PMO管节奏，专题小组管落地。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3C515-F76A-4EC0-8993-75FD7B3E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DCEEA-312C-46A7-AF1D-9E986069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2F0AF-7B92-4A35-9AA7-4C8EFB5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91531-06F8-4964-BD9B-99D4513A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7062-8967-4570-BB29-DDD41513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BA864-8A80-4B5F-B645-8954B806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845FA-B4D7-4812-AB70-1448F01A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领导小组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5C83A-BF41-4E1F-BDD9-3C0F28B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负责方向、资源和关键决策，遇到重大问题能及时拍板。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56288-707C-4426-A967-EBAD3574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18EBD-0E94-4390-B38C-DF1EF037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DC673-C1B7-4F31-94E8-86E46487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E8E45-E7DB-4E3E-BB81-5CEADEA5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0517A-EF82-4552-8468-E492BC4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4F18B-50E6-4947-A753-77FD5EB7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FDE79-94CE-4CE5-863F-03078E1A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PMO统筹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7F76F-C56A-4E47-90AA-FC48238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负责计划、周报、例会、风险和问题升级，保证节奏不散。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9C2E6-2F5E-451F-9117-E29C85C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2A078-3177-4F45-99D8-897EA5F6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14939-1D27-419F-8179-571EC53F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B1C06-A074-430B-A10F-A3AF9040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A60DC-3B82-4363-8014-3DDA6023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8AFA1-EC3C-4FC6-8D54-00EF96BC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78910-4D6B-4238-8D3B-9EEB756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执行小组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C27B0-9FE6-4DAB-833F-6FC27F6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业务蓝图、技术集成、测试验收、上线运维分专题推进。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798F2A-1BD2-4595-B594-DC45C5B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0968009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d490363e24f3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FB157-8161-4E83-A8C6-A73BE52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71134-D12A-4987-B792-1F53F9B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04 项目组织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E921D-A280-4FD8-A0CC-4DFF55E3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57344-C903-449D-B0D2-94C1B57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F40B9-4897-4BED-B771-3D3F43F5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EC964-94EA-42BD-8678-5553AA0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双方职责：启动后一周内对到人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9C6DB-437B-40AE-A28D-E1BCD121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计划能不能跑起来，关键看人、数据、环境、接口能不能及时到位。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78C79-199E-4F3C-8158-700B3636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A12D6-51BC-43EA-8BDA-CA31624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52BC5-F45A-4908-B835-98FA41B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93F1F-BEAC-40B1-888C-5440680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3EFA9-9FC1-427B-AD5F-B5252CD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5DCE0-04BF-4EF8-B27A-3CDD96C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38F66-902F-454C-B266-633C5D95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BE4D7-9D41-4B9F-9BB8-9E98E2A7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91C56-341D-4C2F-9DE1-4811B7E3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甲方负责人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58714-22C6-4677-BEB6-1F0C9EA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关键决策、资源协调、阶段确认和重大问题升级。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711D9-1253-4F1B-8FA7-E9F281AA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决策与确认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C637F-C041-4FA4-99D7-48902581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E1B8D-2574-42EF-9D9F-6B42EC4C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052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107C9-AC78-48FA-A771-7202C53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549BD-B207-4F61-AC28-E0F6C2D5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业务牵头人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D7AB49-9975-4A02-A7A2-9DE7DE0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8142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确认流程、需求优先级、蓝图和业务验收口径。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0FB4A-5D57-4A71-BEE5-EF20CA8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8142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蓝图/UAT确认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08C99-54B5-4CA6-A9B2-AAACAA86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A5CB1-B440-4B57-8FC1-F5BD98F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00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6ED16-B7E5-46F9-AD8E-9A04E95F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E0832C-EAD1-484A-B52D-E5EC3F2F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IT负责人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ADB38-2083-45AB-A65D-AE1D4A98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8625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协调环境、网络、安全、账号、域名、证书和接口。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39E415-EDDB-45B7-A216-E7E20AA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环境与接口保障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F662B-A2B1-48A3-96BC-1193DE0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12A84D-BF3E-4428-B3C7-E9CBA4FD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9B508-A042-44FA-BAB9-4DB281A9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37C96F-7212-4A27-B03E-BE98F6D9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关键用户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A9476D-2F59-4003-B60E-996E714F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参与调研，提供样例数据，执行UAT，反馈培训效果。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5D4441-DF70-475F-9B0F-8990CA9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业务验收证据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81D834-817B-46B9-A542-2581DBF6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C15902-9F36-48A4-BA71-3469A66B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197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4E76FA-8940-4C3A-9AA3-2F3D8AC8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70A788-7492-4804-8A31-141DCD5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乙方PM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A0991A-A45C-4B61-884B-E2860F4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9590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盯计划、控风险、发周报、开例会、跟客户沟通。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C868E0-5920-402C-BA6B-97D7148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9590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项目管理闭环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EA09F4-5CE9-4DB1-97E7-89E963F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8485E7-3239-4687-8214-F5ADB3E9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245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D15FD2-68E9-47F6-8B7D-CCE91BA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245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18C7DF-825F-493C-AC79-56AABABE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乙方团队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B99955-2CB0-4BE9-9E0C-58546CB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0072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完成蓝图落地、配置开发、接口联调、培训和上线保障。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614EC7-FAB9-4782-BBCC-4A4B359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0072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交付成果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E0C124-A5D2-4329-B041-33646774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8424285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88ae1c4f2469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89A44-2FE7-4EA9-BE88-AB12CE4A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2D0D1-EDF4-4C83-BBED-B04B9B4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CF455-7C07-480A-937F-489F083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5163E-F8C1-4D58-9CAF-2CAC3273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F72E2-9693-4F49-B984-8C89DC27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47A1D-18CB-4673-B709-C4C8A1B5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项目管理：把问题摊开，把节奏管住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D38FE-E60F-4551-824C-EC799B1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范围、沟通、质量、变更、里程碑都要有固定打法。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7792A-B708-4900-AEE5-AA0F229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B982D-92A7-4425-BEBC-C809CEBA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C466B-AF6F-4D99-AB8F-DF85EF0C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67E28-3932-498C-BC78-96D653BE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CC86C-C9A3-438D-9A30-749CA960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7DC8C-CC37-4BAD-9726-B2F02DC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38C05-48C6-466A-BE89-18143E5F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A52FD-539E-4239-AAC6-C70441B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9CE0A-26D7-4A79-8AAF-CFAB68AA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实施策略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B3E00-2AE5-4E53-BF66-0589E0AE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白名单范围、蓝图先行、联调前置、测试把关、文档留痕。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ECA3-B52D-4D90-B3B8-132352B5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口径一致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B06E0-9D33-46DD-A5D1-AD082CDA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619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B3CC2-20AA-46C3-9925-91C828B5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C3B6B-3343-41B8-8611-C41D857C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0619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D61D3-746A-49C7-B966-F7064DD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191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沟通机制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CD179-5A02-4987-8E37-1ACE4F12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239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周例会、专题会、周报和问题升级机制固定下来。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14C41-7537-40D7-ABA5-6CFBD64C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239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问题不拖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03A10-0564-45F2-A3AD-922F227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198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A9920-1C3A-4FA0-9D1A-B3134E92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0E3C8-8787-4BF6-9BA9-2AB5DD6D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198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8CD0E-6C30-4705-8B6F-183DFA5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770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质量控制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70265-25FD-44B6-AF68-F90B7125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8818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走真实API路径，隔离演示入口，P0清零，UAT留证据。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960871-DA33-4813-A2E5-F5AD9222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8818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质量可控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3566F-17F4-45E9-96D6-4B46CDB4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777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97AD5F-9F4D-471D-9B33-297069EB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2FC2E-D08F-4B2A-B7B4-753DD836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1777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51D1FC-BA96-4843-A023-922D5936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349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变更控制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2993C-FB84-47F0-9F3E-5D9D469C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9397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蓝图确认后新增需求先评估影响，再决定怎么排。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A2C391-3201-495C-8DF5-BB55C23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9397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范围不散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EF4307-3736-4F93-B432-8068AA38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820400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C191A2-DF6F-44A2-A8DB-B6CE8438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EF59C2-C79B-423D-ABB7-924A3121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623560"/>
            <a:ext cx="9525" cy="605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1634D3-AA6B-4117-A8F4-0D1002F9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9285"/>
            <a:ext cx="135255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里程碑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211059-11D0-4BED-8D34-E5B340D5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99760"/>
            <a:ext cx="626745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蓝图确认、功能提测、集成验证、UAT通过、正式上线。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1EE653-4D7B-4725-8710-F8DB29CD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99760"/>
            <a:ext cx="2324100" cy="4533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节点清楚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BE319E-E5A8-4063-A7E6-F99107A9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786894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2aec0f3a46d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F0BB8-AB08-4330-82ED-3BA246E5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0C1EC-93D9-4AAD-903C-29A1CF71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755AB-3B63-4DE3-B0DB-6083074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98DFB-17AE-427A-ADDF-F6E1C2A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CEAC0-DA12-400D-8C5C-8D05CBD6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3534A-16D0-456A-8A70-F2BFCC50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需要甲方配合的事项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F502B-4FCA-451C-A17E-CB6119C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这些不是附加要求，而是6/25上线能否成立的前提。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E32E4-4544-42B7-836A-BE62434A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5422E-A79E-44C5-916F-960DF54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078AE-2C70-47D2-9CA5-E1A81654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DE4C8-7B8D-4DA6-868A-DE243D27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143E0-C532-4D78-BCB4-92B8EDF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72C2A-574A-4F49-8530-DFD4A6D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2AC72-02E9-4993-A337-076110E7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218D3-ECFE-4348-BCCA-DBE71550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D4BA5-2EE5-43A7-8E9D-0C8287C8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3个工作日内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FA144-59F4-4DF2-8763-3DF726E5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明确项目负责人、业务牵头人、IT负责人、关键用户和接口人。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62D97-3150-4900-BE0B-53351394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项目成员清单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1801F-1DF5-4265-80A1-3BEE6FD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E6208-9FE0-4199-B063-B076249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052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AF619-B8B2-49C1-BC75-8BD2070A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052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829F8-9F27-461E-96CA-1A72D9B1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调研阶段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10057-711B-493B-956E-D208AE77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8142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提供现状流程、确认版需求、历史样例数据和环境申请信息。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E3387-A2FF-4A29-9173-5E32A63C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8142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调研输入材料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19106-2F62-43DF-94B5-7A7B2568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18885-07A2-459F-A022-B37D54EB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100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97612-454A-41C2-8D51-95D2A65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100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CF8C33-EF18-4425-AB4F-E941E34A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蓝图阶段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7547B-DD09-4275-BC93-CF7B34DB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8625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组织业务评审，确认流程、权限、数据、接口和原型。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F20885-B2A0-4A04-B501-0CA1B8BE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BA2B6-8E50-44CF-BD62-0747E043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39CB99-91ED-4C7A-9437-359D3228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CE539E-E69D-47D2-992F-EF769854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D7180-993E-4CE4-81FB-A5E7232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实现阶段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60E5-29A8-4305-827F-787AFA5A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提供测试数据、样例标书、资质、案例、模板、费用和账户样本。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A6488A-9611-4D8E-AC03-EE13FB2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提测输入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5B2D03-68F8-4286-B42A-CCCBD439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B69F16-2546-4E52-A385-F3E36C9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197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EBA9C6-DD14-48E1-A7B3-79203A1C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8A89CA-2FCC-453A-B9E6-8C0E1E3F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联调阶段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AA2F0F-493F-462C-91EB-3E888CA5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95900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保障外部系统测试环境、联调窗口和问题响应。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F882C-E933-4D20-BDF6-7D1839D2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95900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联调闭环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63BB6A-95A6-4FFA-94FA-0661CF7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362F40-9671-4460-9CD6-549E3E00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245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BA0E1E-6090-40F5-8286-7D845AB3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7245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2B9C93-B1FB-4783-82B2-3EA6466D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UAT上线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FD9C83-5C1E-4B18-A417-ADA70CEA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00725"/>
            <a:ext cx="62674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安排关键用户测试、培训参会、上线演练和签字确认。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E8C122-D61B-4E89-933C-3FA52DF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800725"/>
            <a:ext cx="2324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上线门禁材料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2A9846-7F7B-4955-B7E6-39FC98AD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294315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bbb72e07f4a1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B4617-7788-4025-8860-55ABFFE3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51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4A0EB-535E-452B-9EE4-B2F7AC6B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05 项目管理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9E6FA-06C9-4D1F-A143-98C7D23B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F0B0D-2369-4FA3-BE66-691DFC91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A3962-2744-4E90-B491-9F1B0A76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00FB1-CEA3-431B-92DC-E4B95AC7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近期先把四件事抓住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C7C0B-BF52-4013-9F8B-2AA53C0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组织建起来、资料拿到手、访谈跑起来、蓝图先出稿。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7BA29-53FB-48D3-A84D-F5BD3634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0478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5C092-DCF7-40B9-806C-802AB055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0CF4F-32E1-4D65-90AA-23117AB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工作包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548FA-9B78-49A7-9694-B892D9C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43225"/>
            <a:ext cx="630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主要活动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C64A2-3645-4DD5-B0CA-7214E080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4322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阶段输出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C85EA-12E7-4AE9-A396-45DBEB3D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A63C9-6492-42E7-811D-78AA316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AAC83-475B-41C7-B692-0DF6C9E6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DA731-E6D1-4BD5-B6DC-68828C7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04/27-04/</a:t>
            </a:r>
          </a:p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7BEE-84A3-4859-B0C1-6FCB176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开启动会，建项目群和例会机制，确认调研计划、资料清单和接口人。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FE9A5-EFCE-443A-97EC-56CA2044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启动纪要、调研清单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92653-780C-4F1A-BDDB-19B5D19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7638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5A38A-6AB8-4DEF-8DB1-C8E032C3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57638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404A7-9576-447B-92A4-245677D1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57638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67092-1780-4F33-90A6-8C36C9AF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3363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05/06-05/</a:t>
            </a:r>
          </a:p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8789D-21DA-4EC2-BEB7-59D71553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3838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集中访谈，收集历史样例，整理现状流程和主要痛点。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185C8-24B2-492E-AFAA-1B54CCC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3838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调研纪要、风险清单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83413-1888-4B40-93AB-D1EA98FB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0ED8C9-A46E-40F6-978F-57F67D02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ED4C7-0549-4548-BEE4-B3DB307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14875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F531D-0E0B-401D-B8AA-EC07AFDA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05/11-05/</a:t>
            </a:r>
          </a:p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3F7F5-8F63-47F0-A476-1FC116E5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91075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启动蓝图初稿，同步补充调研和关键场景复核。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DF7BA5-B5ED-4455-A02D-A75B24B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蓝图初稿、待决事项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C3D23-5230-4C06-9364-F43C9F29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2113"/>
            <a:ext cx="1082040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>
              <a:alpha val="94902"/>
            </a:srgbClr>
          </a:solidFill>
          <a:ln xmlns:a="http://schemas.openxmlformats.org/drawingml/2006/main" w="5715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AD37B1-7547-406F-B5FA-9D54D516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72113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CD05CC-5F59-49BC-9A7A-81C7A0E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72113"/>
            <a:ext cx="9525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9F9610-E351-4E26-9316-DFCCCC5E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7838"/>
            <a:ext cx="1352550" cy="585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05/18-05/</a:t>
            </a:r>
          </a:p>
          <a:p xmlns:a="http://schemas.openxmlformats.org/drawingml/2006/main">
            <a:pPr algn="l">
              <a:defRPr sz="900" b="1">
                <a:solidFill>
                  <a:srgbClr val="12233A"/>
                </a:solidFill>
              </a:defRPr>
            </a:pPr>
            <a:r>
              <a:rPr sz="900" b="1">
                <a:solidFill>
                  <a:srgbClr val="12233A"/>
                </a:solidFill>
              </a:rPr>
              <a:t>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68E3F9-D769-4DB5-B73C-F8228FC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48313"/>
            <a:ext cx="626745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深化蓝图，确认原型、权限、接口和数据口径。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88A108-FCDB-4D1A-A3CB-AA5AA2E1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48313"/>
            <a:ext cx="2324100" cy="604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65C"/>
                </a:solidFill>
              </a:defRPr>
            </a:pPr>
            <a:r>
              <a:rPr sz="863" b="0">
                <a:solidFill>
                  <a:srgbClr val="34465C"/>
                </a:solidFill>
              </a:rPr>
              <a:t>蓝图确认材料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2EEC85-1B0C-41A6-8CA7-0303F530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2863792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2A84AB-8E2B-412F-8CC5-D83FB8702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551ef0c3e4e0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C56B4-AC93-481B-B9F1-07A05FC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CEE1B-0F40-427A-A6E6-F4FBBB5C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06 启动共识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6CA12-EA39-4AAF-B849-3638F2FA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D5F52"/>
                </a:solidFill>
              </a:defRPr>
            </a:pPr>
            <a:r>
              <a:rPr sz="975" b="1">
                <a:solidFill>
                  <a:srgbClr val="0D5F52"/>
                </a:solidFill>
              </a:rPr>
              <a:t>19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7316E-10CC-4C58-9885-C71AAECE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6455E-CBC7-4E21-87FE-32325B7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19050">
            <a:solidFill>
              <a:srgbClr val="1223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180D-97B6-4DF6-9844-F50D816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A"/>
                </a:solidFill>
              </a:defRPr>
            </a:pPr>
            <a:r>
              <a:rPr sz="3000" b="1">
                <a:solidFill>
                  <a:srgbClr val="12233A"/>
                </a:solidFill>
              </a:rPr>
              <a:t>启动会后，我们就按这个节奏往前推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4333A-2813-4125-9E23-1D8076F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目标不变：调研充分、蓝图准确、联调前置、上线受控。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72F2-5781-49F9-9F14-30694111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FED0C-30B1-4FC6-95F9-702251BE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6C07A-BBAE-4381-BD05-C2677A46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7E891-4F45-4769-B5CB-AA513F99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CAF06-3DF1-403B-9244-1838B1B8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712AE-DA77-48B3-8A49-5895E570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9DA8A-C314-4F56-878D-92AF416F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SOW为基线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FB223-1E4D-4D89-A1AA-2049C30E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6月25日上线倒排、正式范围白名单和阶段交付物，作为共同</a:t>
            </a:r>
          </a:p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执行依据。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773C0-072D-48EA-97F6-ED0F5680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4103A-9E56-4227-8306-C5FD7103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41E9DD-1606-4343-8E58-14ECB141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9CFF6-3A5A-4D07-A47F-1A42353D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9ED56-8E1C-429D-A520-71DD2D7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60F70-3F3D-4176-86F9-E639A82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481CD-F8EB-468A-8A38-6038AD3A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交叉推进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C8788-412A-4EC2-80AB-9E56747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调研和蓝图、实现和联调都要交叉推进，减少前后等待。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8B546-EEF1-43F7-B961-9F0BDF1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56ED3-E4C8-47C3-A505-5C624454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F06FC-A442-437F-94D0-16199DD0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78"/>
            </a:srgbClr>
          </a:solidFill>
          <a:ln xmlns:a="http://schemas.openxmlformats.org/drawingml/2006/main" w="11430">
            <a:solidFill>
              <a:srgbClr val="1223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B1BBDF-64B9-473C-B11B-95BA836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C45F1-7408-41B4-A8BD-DF59106D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581C1C-7212-4AE1-97B5-8ABD4B0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9525">
            <a:solidFill>
              <a:srgbClr val="1223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42A8E-092F-46AA-A915-CDA408EA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5F52"/>
                </a:solidFill>
              </a:defRPr>
            </a:pPr>
            <a:r>
              <a:rPr sz="1125" b="1">
                <a:solidFill>
                  <a:srgbClr val="0D5F52"/>
                </a:solidFill>
              </a:rPr>
              <a:t>节点受控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F1ACBF-F147-40EF-83B2-09B9E54C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233A"/>
                </a:solidFill>
              </a:defRPr>
            </a:pPr>
            <a:r>
              <a:rPr sz="1275" b="0">
                <a:solidFill>
                  <a:srgbClr val="12233A"/>
                </a:solidFill>
              </a:rPr>
              <a:t>蓝图确认、集成验证、UAT签字、上线演练通过后再切生产。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D64DB9-FDB7-4ECB-9E0F-71A6EAA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C"/>
                </a:solidFill>
              </a:defRPr>
            </a:pPr>
            <a:r>
              <a:rPr sz="750" b="0">
                <a:solidFill>
                  <a:srgbClr val="6B7A8C"/>
                </a:solidFill>
              </a:rPr>
              <a:t>西域数智化投标管理平台建设项目启动会 · 2026.04.27</a:t>
            </a:r>
          </a:p>
        </p:txBody>
      </p:sp>
    </p:spTree>
    <p:extLst>
      <p:ext uri="{BB962C8B-B14F-4D97-AF65-F5344CB8AC3E}">
        <p14:creationId xmlns:p14="http://schemas.microsoft.com/office/powerpoint/2010/main" val="1395362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2026-04-22T07:19:05.2820000Z</dcterms:created>
  <dcterms:modified xsi:type="dcterms:W3CDTF">2026-04-22T07:19:05.2820000Z</dcterms:modified>
</coreProperties>
</file>